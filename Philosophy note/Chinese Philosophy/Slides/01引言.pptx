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3"/>
    <p:sldId id="468" r:id="rId4"/>
    <p:sldId id="467" r:id="rId5"/>
    <p:sldId id="440" r:id="rId6"/>
    <p:sldId id="441" r:id="rId7"/>
    <p:sldId id="443" r:id="rId8"/>
    <p:sldId id="444" r:id="rId9"/>
    <p:sldId id="442" r:id="rId10"/>
    <p:sldId id="466" r:id="rId11"/>
    <p:sldId id="414" r:id="rId12"/>
    <p:sldId id="447" r:id="rId13"/>
    <p:sldId id="448" r:id="rId14"/>
    <p:sldId id="449" r:id="rId15"/>
    <p:sldId id="445" r:id="rId16"/>
    <p:sldId id="422" r:id="rId17"/>
    <p:sldId id="420" r:id="rId18"/>
    <p:sldId id="421" r:id="rId19"/>
    <p:sldId id="450" r:id="rId20"/>
    <p:sldId id="451" r:id="rId21"/>
    <p:sldId id="452" r:id="rId22"/>
    <p:sldId id="454" r:id="rId23"/>
    <p:sldId id="453" r:id="rId24"/>
    <p:sldId id="456" r:id="rId25"/>
    <p:sldId id="457" r:id="rId26"/>
    <p:sldId id="459" r:id="rId27"/>
    <p:sldId id="460" r:id="rId28"/>
    <p:sldId id="461" r:id="rId29"/>
    <p:sldId id="462" r:id="rId30"/>
    <p:sldId id="465" r:id="rId31"/>
  </p:sldIdLst>
  <p:sldSz cx="12192000" cy="6858000"/>
  <p:notesSz cx="6858000" cy="9144000"/>
  <p:custDataLst>
    <p:tags r:id="rId3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61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44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86483" autoAdjust="0"/>
  </p:normalViewPr>
  <p:slideViewPr>
    <p:cSldViewPr snapToGrid="0" showGuides="1">
      <p:cViewPr varScale="1">
        <p:scale>
          <a:sx n="85" d="100"/>
          <a:sy n="85" d="100"/>
        </p:scale>
        <p:origin x="48" y="62"/>
      </p:cViewPr>
      <p:guideLst>
        <p:guide pos="416"/>
        <p:guide pos="7261"/>
        <p:guide orient="horz" pos="648"/>
        <p:guide orient="horz" pos="744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6" Type="http://schemas.openxmlformats.org/officeDocument/2006/relationships/tags" Target="tags/tag18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notesMaster" Target="notesMasters/notesMaster1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285F5D-EB2F-4FB1-B480-9E4327591A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862785-86A3-400D-9182-96AB45421CC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-55690" y="0"/>
            <a:ext cx="12254040" cy="6858001"/>
            <a:chOff x="-55690" y="0"/>
            <a:chExt cx="12254040" cy="6858001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1270"/>
            <a:stretch>
              <a:fillRect/>
            </a:stretch>
          </p:blipFill>
          <p:spPr>
            <a:xfrm>
              <a:off x="0" y="3677921"/>
              <a:ext cx="12192000" cy="3180080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6350" y="0"/>
              <a:ext cx="12192000" cy="6858000"/>
            </a:xfrm>
            <a:prstGeom prst="rect">
              <a:avLst/>
            </a:prstGeom>
            <a:solidFill>
              <a:schemeClr val="bg1">
                <a:alpha val="3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3064123" y="895001"/>
              <a:ext cx="2975675" cy="1555595"/>
            </a:xfrm>
            <a:custGeom>
              <a:avLst/>
              <a:gdLst>
                <a:gd name="connsiteX0" fmla="*/ 263311 w 3278889"/>
                <a:gd name="connsiteY0" fmla="*/ 933095 h 1879959"/>
                <a:gd name="connsiteX1" fmla="*/ 1051102 w 3278889"/>
                <a:gd name="connsiteY1" fmla="*/ 4627 h 1879959"/>
                <a:gd name="connsiteX2" fmla="*/ 1656013 w 3278889"/>
                <a:gd name="connsiteY2" fmla="*/ 567335 h 1879959"/>
                <a:gd name="connsiteX3" fmla="*/ 2232788 w 3278889"/>
                <a:gd name="connsiteY3" fmla="*/ 384455 h 1879959"/>
                <a:gd name="connsiteX4" fmla="*/ 3104985 w 3278889"/>
                <a:gd name="connsiteY4" fmla="*/ 806485 h 1879959"/>
                <a:gd name="connsiteX5" fmla="*/ 2992444 w 3278889"/>
                <a:gd name="connsiteY5" fmla="*/ 1805291 h 1879959"/>
                <a:gd name="connsiteX6" fmla="*/ 221108 w 3278889"/>
                <a:gd name="connsiteY6" fmla="*/ 1706818 h 1879959"/>
                <a:gd name="connsiteX7" fmla="*/ 263311 w 3278889"/>
                <a:gd name="connsiteY7" fmla="*/ 933095 h 1879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78889" h="1879959">
                  <a:moveTo>
                    <a:pt x="263311" y="933095"/>
                  </a:moveTo>
                  <a:cubicBezTo>
                    <a:pt x="401643" y="649397"/>
                    <a:pt x="818985" y="65587"/>
                    <a:pt x="1051102" y="4627"/>
                  </a:cubicBezTo>
                  <a:cubicBezTo>
                    <a:pt x="1283219" y="-56333"/>
                    <a:pt x="1459065" y="504030"/>
                    <a:pt x="1656013" y="567335"/>
                  </a:cubicBezTo>
                  <a:cubicBezTo>
                    <a:pt x="1852961" y="630640"/>
                    <a:pt x="1991293" y="344597"/>
                    <a:pt x="2232788" y="384455"/>
                  </a:cubicBezTo>
                  <a:cubicBezTo>
                    <a:pt x="2474283" y="424313"/>
                    <a:pt x="2978376" y="569679"/>
                    <a:pt x="3104985" y="806485"/>
                  </a:cubicBezTo>
                  <a:cubicBezTo>
                    <a:pt x="3231594" y="1043291"/>
                    <a:pt x="3473090" y="1655236"/>
                    <a:pt x="2992444" y="1805291"/>
                  </a:cubicBezTo>
                  <a:cubicBezTo>
                    <a:pt x="2511798" y="1955347"/>
                    <a:pt x="671274" y="1856873"/>
                    <a:pt x="221108" y="1706818"/>
                  </a:cubicBezTo>
                  <a:cubicBezTo>
                    <a:pt x="-229058" y="1556763"/>
                    <a:pt x="124979" y="1216793"/>
                    <a:pt x="263311" y="933095"/>
                  </a:cubicBezTo>
                  <a:close/>
                </a:path>
              </a:pathLst>
            </a:custGeom>
            <a:gradFill>
              <a:gsLst>
                <a:gs pos="0">
                  <a:srgbClr val="6E8A8C"/>
                </a:gs>
                <a:gs pos="64000">
                  <a:srgbClr val="FFFFFF">
                    <a:alpha val="0"/>
                  </a:srgbClr>
                </a:gs>
                <a:gs pos="100000">
                  <a:schemeClr val="bg1">
                    <a:alpha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FZQingKeBenYueSongS-R-GB" panose="02000000000000000000" pitchFamily="2" charset="-122"/>
                <a:sym typeface="Arial" panose="020B0604020202020204" pitchFamily="34" charset="0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55690" y="3110675"/>
              <a:ext cx="3375770" cy="2926081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05584" y="775411"/>
              <a:ext cx="2100298" cy="2118160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866900" y="1778000"/>
            <a:ext cx="8445500" cy="183359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873418" y="3788572"/>
            <a:ext cx="6432464" cy="759253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add subtitle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7861300" y="5859780"/>
            <a:ext cx="3657600" cy="274320"/>
          </a:xfrm>
        </p:spPr>
        <p:txBody>
          <a:bodyPr anchor="ctr"/>
          <a:lstStyle>
            <a:lvl1pPr marL="0" indent="0" algn="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859780"/>
            <a:ext cx="3657600" cy="27432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www.islide.cc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Agenda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500187"/>
            <a:ext cx="2836562" cy="915667"/>
          </a:xfrm>
        </p:spPr>
        <p:txBody>
          <a:bodyPr anchor="t">
            <a:normAutofit/>
          </a:bodyPr>
          <a:lstStyle>
            <a:lvl1pPr algn="r">
              <a:defRPr sz="2800"/>
            </a:lvl1pPr>
          </a:lstStyle>
          <a:p>
            <a:pPr lvl="0"/>
            <a:r>
              <a:rPr lang="en-US"/>
              <a:t>Agenda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3745078" y="1500188"/>
            <a:ext cx="7773821" cy="4633912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3621019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任意多边形: 形状 7"/>
          <p:cNvSpPr>
            <a:spLocks noChangeAspect="1"/>
          </p:cNvSpPr>
          <p:nvPr/>
        </p:nvSpPr>
        <p:spPr bwMode="auto">
          <a:xfrm>
            <a:off x="2626456" y="5219207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-55690" y="0"/>
            <a:ext cx="12254040" cy="6858001"/>
            <a:chOff x="-55690" y="0"/>
            <a:chExt cx="12254040" cy="6858001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1270"/>
            <a:stretch>
              <a:fillRect/>
            </a:stretch>
          </p:blipFill>
          <p:spPr>
            <a:xfrm>
              <a:off x="0" y="3677921"/>
              <a:ext cx="12192000" cy="3180080"/>
            </a:xfrm>
            <a:prstGeom prst="rect">
              <a:avLst/>
            </a:prstGeom>
          </p:spPr>
        </p:pic>
        <p:sp>
          <p:nvSpPr>
            <p:cNvPr id="9" name="矩形 8"/>
            <p:cNvSpPr/>
            <p:nvPr/>
          </p:nvSpPr>
          <p:spPr>
            <a:xfrm>
              <a:off x="6350" y="0"/>
              <a:ext cx="12192000" cy="6858000"/>
            </a:xfrm>
            <a:prstGeom prst="rect">
              <a:avLst/>
            </a:prstGeom>
            <a:solidFill>
              <a:schemeClr val="bg1">
                <a:alpha val="3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0" name="任意多边形: 形状 9"/>
            <p:cNvSpPr/>
            <p:nvPr/>
          </p:nvSpPr>
          <p:spPr>
            <a:xfrm>
              <a:off x="3064123" y="895001"/>
              <a:ext cx="2975675" cy="1555595"/>
            </a:xfrm>
            <a:custGeom>
              <a:avLst/>
              <a:gdLst>
                <a:gd name="connsiteX0" fmla="*/ 263311 w 3278889"/>
                <a:gd name="connsiteY0" fmla="*/ 933095 h 1879959"/>
                <a:gd name="connsiteX1" fmla="*/ 1051102 w 3278889"/>
                <a:gd name="connsiteY1" fmla="*/ 4627 h 1879959"/>
                <a:gd name="connsiteX2" fmla="*/ 1656013 w 3278889"/>
                <a:gd name="connsiteY2" fmla="*/ 567335 h 1879959"/>
                <a:gd name="connsiteX3" fmla="*/ 2232788 w 3278889"/>
                <a:gd name="connsiteY3" fmla="*/ 384455 h 1879959"/>
                <a:gd name="connsiteX4" fmla="*/ 3104985 w 3278889"/>
                <a:gd name="connsiteY4" fmla="*/ 806485 h 1879959"/>
                <a:gd name="connsiteX5" fmla="*/ 2992444 w 3278889"/>
                <a:gd name="connsiteY5" fmla="*/ 1805291 h 1879959"/>
                <a:gd name="connsiteX6" fmla="*/ 221108 w 3278889"/>
                <a:gd name="connsiteY6" fmla="*/ 1706818 h 1879959"/>
                <a:gd name="connsiteX7" fmla="*/ 263311 w 3278889"/>
                <a:gd name="connsiteY7" fmla="*/ 933095 h 1879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78889" h="1879959">
                  <a:moveTo>
                    <a:pt x="263311" y="933095"/>
                  </a:moveTo>
                  <a:cubicBezTo>
                    <a:pt x="401643" y="649397"/>
                    <a:pt x="818985" y="65587"/>
                    <a:pt x="1051102" y="4627"/>
                  </a:cubicBezTo>
                  <a:cubicBezTo>
                    <a:pt x="1283219" y="-56333"/>
                    <a:pt x="1459065" y="504030"/>
                    <a:pt x="1656013" y="567335"/>
                  </a:cubicBezTo>
                  <a:cubicBezTo>
                    <a:pt x="1852961" y="630640"/>
                    <a:pt x="1991293" y="344597"/>
                    <a:pt x="2232788" y="384455"/>
                  </a:cubicBezTo>
                  <a:cubicBezTo>
                    <a:pt x="2474283" y="424313"/>
                    <a:pt x="2978376" y="569679"/>
                    <a:pt x="3104985" y="806485"/>
                  </a:cubicBezTo>
                  <a:cubicBezTo>
                    <a:pt x="3231594" y="1043291"/>
                    <a:pt x="3473090" y="1655236"/>
                    <a:pt x="2992444" y="1805291"/>
                  </a:cubicBezTo>
                  <a:cubicBezTo>
                    <a:pt x="2511798" y="1955347"/>
                    <a:pt x="671274" y="1856873"/>
                    <a:pt x="221108" y="1706818"/>
                  </a:cubicBezTo>
                  <a:cubicBezTo>
                    <a:pt x="-229058" y="1556763"/>
                    <a:pt x="124979" y="1216793"/>
                    <a:pt x="263311" y="933095"/>
                  </a:cubicBezTo>
                  <a:close/>
                </a:path>
              </a:pathLst>
            </a:custGeom>
            <a:gradFill>
              <a:gsLst>
                <a:gs pos="0">
                  <a:srgbClr val="6E8A8C"/>
                </a:gs>
                <a:gs pos="64000">
                  <a:srgbClr val="FFFFFF">
                    <a:alpha val="0"/>
                  </a:srgbClr>
                </a:gs>
                <a:gs pos="100000">
                  <a:schemeClr val="bg1">
                    <a:alpha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FZQingKeBenYueSongS-R-GB" panose="02000000000000000000" pitchFamily="2" charset="-122"/>
                <a:sym typeface="Arial" panose="020B0604020202020204" pitchFamily="34" charset="0"/>
              </a:endParaRPr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55690" y="3110675"/>
              <a:ext cx="3375770" cy="2926081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05584" y="775411"/>
              <a:ext cx="2100298" cy="2118160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638300" y="1956773"/>
            <a:ext cx="8902700" cy="137160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638300" y="3333878"/>
            <a:ext cx="8902700" cy="15164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matchingName="Closing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55690" y="0"/>
            <a:ext cx="12254040" cy="6858001"/>
            <a:chOff x="-55690" y="0"/>
            <a:chExt cx="12254040" cy="6858001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1270"/>
            <a:stretch>
              <a:fillRect/>
            </a:stretch>
          </p:blipFill>
          <p:spPr>
            <a:xfrm>
              <a:off x="0" y="3677921"/>
              <a:ext cx="12192000" cy="3180080"/>
            </a:xfrm>
            <a:prstGeom prst="rect">
              <a:avLst/>
            </a:prstGeom>
          </p:spPr>
        </p:pic>
        <p:sp>
          <p:nvSpPr>
            <p:cNvPr id="7" name="矩形 6"/>
            <p:cNvSpPr/>
            <p:nvPr/>
          </p:nvSpPr>
          <p:spPr>
            <a:xfrm>
              <a:off x="6350" y="0"/>
              <a:ext cx="12192000" cy="6858000"/>
            </a:xfrm>
            <a:prstGeom prst="rect">
              <a:avLst/>
            </a:prstGeom>
            <a:solidFill>
              <a:schemeClr val="bg1">
                <a:alpha val="3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8" name="任意多边形: 形状 7"/>
            <p:cNvSpPr/>
            <p:nvPr/>
          </p:nvSpPr>
          <p:spPr>
            <a:xfrm>
              <a:off x="3064123" y="895001"/>
              <a:ext cx="2975675" cy="1555595"/>
            </a:xfrm>
            <a:custGeom>
              <a:avLst/>
              <a:gdLst>
                <a:gd name="connsiteX0" fmla="*/ 263311 w 3278889"/>
                <a:gd name="connsiteY0" fmla="*/ 933095 h 1879959"/>
                <a:gd name="connsiteX1" fmla="*/ 1051102 w 3278889"/>
                <a:gd name="connsiteY1" fmla="*/ 4627 h 1879959"/>
                <a:gd name="connsiteX2" fmla="*/ 1656013 w 3278889"/>
                <a:gd name="connsiteY2" fmla="*/ 567335 h 1879959"/>
                <a:gd name="connsiteX3" fmla="*/ 2232788 w 3278889"/>
                <a:gd name="connsiteY3" fmla="*/ 384455 h 1879959"/>
                <a:gd name="connsiteX4" fmla="*/ 3104985 w 3278889"/>
                <a:gd name="connsiteY4" fmla="*/ 806485 h 1879959"/>
                <a:gd name="connsiteX5" fmla="*/ 2992444 w 3278889"/>
                <a:gd name="connsiteY5" fmla="*/ 1805291 h 1879959"/>
                <a:gd name="connsiteX6" fmla="*/ 221108 w 3278889"/>
                <a:gd name="connsiteY6" fmla="*/ 1706818 h 1879959"/>
                <a:gd name="connsiteX7" fmla="*/ 263311 w 3278889"/>
                <a:gd name="connsiteY7" fmla="*/ 933095 h 1879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78889" h="1879959">
                  <a:moveTo>
                    <a:pt x="263311" y="933095"/>
                  </a:moveTo>
                  <a:cubicBezTo>
                    <a:pt x="401643" y="649397"/>
                    <a:pt x="818985" y="65587"/>
                    <a:pt x="1051102" y="4627"/>
                  </a:cubicBezTo>
                  <a:cubicBezTo>
                    <a:pt x="1283219" y="-56333"/>
                    <a:pt x="1459065" y="504030"/>
                    <a:pt x="1656013" y="567335"/>
                  </a:cubicBezTo>
                  <a:cubicBezTo>
                    <a:pt x="1852961" y="630640"/>
                    <a:pt x="1991293" y="344597"/>
                    <a:pt x="2232788" y="384455"/>
                  </a:cubicBezTo>
                  <a:cubicBezTo>
                    <a:pt x="2474283" y="424313"/>
                    <a:pt x="2978376" y="569679"/>
                    <a:pt x="3104985" y="806485"/>
                  </a:cubicBezTo>
                  <a:cubicBezTo>
                    <a:pt x="3231594" y="1043291"/>
                    <a:pt x="3473090" y="1655236"/>
                    <a:pt x="2992444" y="1805291"/>
                  </a:cubicBezTo>
                  <a:cubicBezTo>
                    <a:pt x="2511798" y="1955347"/>
                    <a:pt x="671274" y="1856873"/>
                    <a:pt x="221108" y="1706818"/>
                  </a:cubicBezTo>
                  <a:cubicBezTo>
                    <a:pt x="-229058" y="1556763"/>
                    <a:pt x="124979" y="1216793"/>
                    <a:pt x="263311" y="933095"/>
                  </a:cubicBezTo>
                  <a:close/>
                </a:path>
              </a:pathLst>
            </a:custGeom>
            <a:gradFill>
              <a:gsLst>
                <a:gs pos="0">
                  <a:srgbClr val="6E8A8C"/>
                </a:gs>
                <a:gs pos="64000">
                  <a:srgbClr val="FFFFFF">
                    <a:alpha val="0"/>
                  </a:srgbClr>
                </a:gs>
                <a:gs pos="100000">
                  <a:schemeClr val="bg1">
                    <a:alpha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FZQingKeBenYueSongS-R-GB" panose="02000000000000000000" pitchFamily="2" charset="-122"/>
                <a:sym typeface="Arial" panose="020B0604020202020204" pitchFamily="34" charset="0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55690" y="3110675"/>
              <a:ext cx="3375770" cy="2926081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05584" y="775411"/>
              <a:ext cx="2100298" cy="2118160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022600" y="2199840"/>
            <a:ext cx="6134100" cy="2118160"/>
          </a:xfrm>
        </p:spPr>
        <p:txBody>
          <a:bodyPr anchor="ctr">
            <a:noAutofit/>
          </a:bodyPr>
          <a:lstStyle>
            <a:lvl1pPr algn="ctr">
              <a:defRPr sz="4800"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7861300" y="5859780"/>
            <a:ext cx="3657600" cy="274320"/>
          </a:xfrm>
        </p:spPr>
        <p:txBody>
          <a:bodyPr anchor="ctr"/>
          <a:lstStyle>
            <a:lvl1pPr marL="0" indent="0" algn="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859780"/>
            <a:ext cx="3657600" cy="27432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www.islide.cc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.jpeg"/><Relationship Id="rId1" Type="http://schemas.openxmlformats.org/officeDocument/2006/relationships/image" Target="../media/image5.GI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1" Type="http://schemas.openxmlformats.org/officeDocument/2006/relationships/tags" Target="../tags/tag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1" Type="http://schemas.openxmlformats.org/officeDocument/2006/relationships/tags" Target="../tags/tag1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8.emf"/><Relationship Id="rId1" Type="http://schemas.openxmlformats.org/officeDocument/2006/relationships/tags" Target="../tags/tag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6900" y="1778000"/>
            <a:ext cx="8445500" cy="1833596"/>
          </a:xfrm>
        </p:spPr>
        <p:txBody>
          <a:bodyPr>
            <a:normAutofit/>
          </a:bodyPr>
          <a:lstStyle/>
          <a:p>
            <a:pPr lvl="0"/>
            <a:r>
              <a:rPr lang="zh-CN" altLang="en-US" sz="4000" dirty="0"/>
              <a:t>中国哲学（上）</a:t>
            </a:r>
            <a:endParaRPr lang="zh-CN" altLang="en-US" sz="40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61300" y="5153025"/>
            <a:ext cx="2797175" cy="981075"/>
          </a:xfrm>
        </p:spPr>
        <p:txBody>
          <a:bodyPr>
            <a:normAutofit/>
          </a:bodyPr>
          <a:lstStyle/>
          <a:p>
            <a:pPr lvl="0"/>
            <a:r>
              <a:rPr lang="zh-CN" altLang="en-US" sz="2000" dirty="0" smtClean="0"/>
              <a:t>孟庆楠、白辉洪</a:t>
            </a:r>
            <a:endParaRPr lang="zh-CN" altLang="en-US" sz="2000" dirty="0" smtClean="0"/>
          </a:p>
          <a:p>
            <a:pPr lvl="0"/>
            <a:r>
              <a:rPr lang="en-US" sz="2000" dirty="0"/>
              <a:t>2026-27-1</a:t>
            </a:r>
            <a:endParaRPr lang="en-US" sz="2000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6900" y="1778000"/>
            <a:ext cx="8445500" cy="1833596"/>
          </a:xfrm>
        </p:spPr>
        <p:txBody>
          <a:bodyPr>
            <a:normAutofit/>
          </a:bodyPr>
          <a:lstStyle/>
          <a:p>
            <a:pPr lvl="0"/>
            <a:r>
              <a:rPr lang="zh-CN" altLang="en-US" sz="4000" dirty="0"/>
              <a:t>第一讲</a:t>
            </a:r>
            <a:r>
              <a:rPr lang="en-US" altLang="zh-CN" sz="4000" dirty="0"/>
              <a:t>  </a:t>
            </a:r>
            <a:r>
              <a:rPr lang="zh-CN" altLang="en-US" sz="4000" dirty="0"/>
              <a:t>引言</a:t>
            </a:r>
            <a:endParaRPr lang="zh-CN" altLang="en-US" sz="4000" dirty="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8300" y="1956773"/>
            <a:ext cx="8902700" cy="1371600"/>
          </a:xfrm>
        </p:spPr>
        <p:txBody>
          <a:bodyPr>
            <a:normAutofit/>
          </a:bodyPr>
          <a:lstStyle/>
          <a:p>
            <a:pPr lvl="0"/>
            <a:r>
              <a:rPr lang="zh-CN" altLang="en-US" sz="3200" dirty="0" smtClean="0"/>
              <a:t>一、中国哲学的内容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sym typeface="+mn-ea"/>
              </a:rPr>
              <a:t>一、中国哲学的内容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1" y="1304925"/>
            <a:ext cx="10858499" cy="5104765"/>
            <a:chOff x="673101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4397615" y="1123951"/>
              <a:ext cx="7434729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1" y="1123952"/>
              <a:ext cx="3724514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>
                  <a:sym typeface="+mn-ea"/>
                </a:rPr>
                <a:t>什么是哲学？</a:t>
              </a:r>
              <a:endParaRPr lang="zh-CN" dirty="0"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zh-CN" dirty="0"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>
                  <a:sym typeface="+mn-ea"/>
                </a:rPr>
                <a:t>《哲学导论》课程的讲法</a:t>
              </a:r>
              <a:endParaRPr lang="zh-CN" dirty="0">
                <a:sym typeface="+mn-ea"/>
              </a:endParaRPr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4693037" y="1322504"/>
              <a:ext cx="6844228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张世英（北京大学哲学系）：《哲学导论》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>
                <a:lnSpc>
                  <a:spcPct val="150000"/>
                </a:lnSpc>
              </a:pP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叶秀山（中国社会科学院哲学研究所）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>
                <a:lnSpc>
                  <a:spcPct val="150000"/>
                </a:lnSpc>
              </a:pP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余敦康（中国社会科学院哲学研究所）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>
                <a:lnSpc>
                  <a:spcPct val="150000"/>
                </a:lnSpc>
              </a:pP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张祥龙（北京大学哲学系）：《中西印哲学导论》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>
                <a:lnSpc>
                  <a:spcPct val="150000"/>
                </a:lnSpc>
              </a:pP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李猛（北京大学哲学系）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>
                <a:lnSpc>
                  <a:spcPct val="150000"/>
                </a:lnSpc>
              </a:pP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平行班模式：李猛、刘哲、王中江</a:t>
              </a: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（北京大学哲学系）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sym typeface="+mn-ea"/>
              </a:rPr>
              <a:t>一、中国哲学的内容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1" y="1304925"/>
            <a:ext cx="10858499" cy="5104765"/>
            <a:chOff x="673101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4397615" y="1123951"/>
              <a:ext cx="7434729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1" y="1123952"/>
              <a:ext cx="3724514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>
                  <a:sym typeface="+mn-ea"/>
                </a:rPr>
                <a:t>什么是哲学？</a:t>
              </a:r>
              <a:endParaRPr lang="zh-CN" dirty="0"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zh-CN" dirty="0"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en-US" altLang="zh-CN" dirty="0">
                  <a:sym typeface="+mn-ea"/>
                </a:rPr>
                <a:t>“</a:t>
              </a:r>
              <a:r>
                <a:rPr lang="zh-CN" altLang="en-US" dirty="0">
                  <a:sym typeface="+mn-ea"/>
                </a:rPr>
                <a:t>哲学</a:t>
              </a:r>
              <a:r>
                <a:rPr lang="en-US" altLang="zh-CN" dirty="0">
                  <a:sym typeface="+mn-ea"/>
                </a:rPr>
                <a:t>”</a:t>
              </a:r>
              <a:r>
                <a:rPr lang="zh-CN" altLang="en-US" dirty="0">
                  <a:sym typeface="+mn-ea"/>
                </a:rPr>
                <a:t>的语源与定义</a:t>
              </a:r>
              <a:endParaRPr lang="zh-CN" dirty="0">
                <a:sym typeface="+mn-ea"/>
              </a:endParaRPr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4693037" y="1322504"/>
              <a:ext cx="6844228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chemeClr val="bg1"/>
                  </a:solidFill>
                  <a:sym typeface="+mn-ea"/>
                </a:rPr>
                <a:t>“</a:t>
              </a: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哲学</a:t>
              </a:r>
              <a:r>
                <a:rPr lang="en-US" altLang="zh-CN" dirty="0">
                  <a:solidFill>
                    <a:schemeClr val="bg1"/>
                  </a:solidFill>
                  <a:sym typeface="+mn-ea"/>
                </a:rPr>
                <a:t>”</a:t>
              </a: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或</a:t>
              </a:r>
              <a:r>
                <a:rPr lang="en-US" altLang="zh-CN" dirty="0">
                  <a:solidFill>
                    <a:schemeClr val="bg1"/>
                  </a:solidFill>
                  <a:sym typeface="+mn-ea"/>
                </a:rPr>
                <a:t>“philosophy”</a:t>
              </a: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的语源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古希腊人的创造：</a:t>
              </a:r>
              <a:r>
                <a:rPr lang="en-US" altLang="zh-CN" dirty="0">
                  <a:solidFill>
                    <a:schemeClr val="bg1"/>
                  </a:solidFill>
                  <a:sym typeface="+mn-ea"/>
                </a:rPr>
                <a:t>philo-sophia </a:t>
              </a: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爱智慧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中文的翻译：日本学者最早用</a:t>
              </a:r>
              <a:r>
                <a:rPr lang="en-US" altLang="zh-CN" dirty="0">
                  <a:solidFill>
                    <a:schemeClr val="bg1"/>
                  </a:solidFill>
                  <a:sym typeface="+mn-ea"/>
                </a:rPr>
                <a:t>“</a:t>
              </a: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哲学</a:t>
              </a:r>
              <a:r>
                <a:rPr lang="en-US" altLang="zh-CN" dirty="0">
                  <a:solidFill>
                    <a:schemeClr val="bg1"/>
                  </a:solidFill>
                  <a:sym typeface="+mn-ea"/>
                </a:rPr>
                <a:t>”</a:t>
              </a: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来翻译</a:t>
              </a:r>
              <a:r>
                <a:rPr lang="en-US" altLang="zh-CN" dirty="0">
                  <a:solidFill>
                    <a:schemeClr val="bg1"/>
                  </a:solidFill>
                  <a:sym typeface="+mn-ea"/>
                </a:rPr>
                <a:t>“philosophy”</a:t>
              </a:r>
              <a:endParaRPr lang="en-US" altLang="zh-CN" dirty="0">
                <a:solidFill>
                  <a:schemeClr val="bg1"/>
                </a:solidFill>
                <a:sym typeface="+mn-ea"/>
              </a:endParaRPr>
            </a:p>
            <a:p>
              <a:pPr>
                <a:lnSpc>
                  <a:spcPct val="150000"/>
                </a:lnSpc>
              </a:pPr>
              <a:endParaRPr lang="en-US" altLang="zh-CN" dirty="0">
                <a:solidFill>
                  <a:schemeClr val="bg1"/>
                </a:solidFill>
                <a:sym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chemeClr val="bg1"/>
                  </a:solidFill>
                  <a:sym typeface="+mn-ea"/>
                </a:rPr>
                <a:t>“</a:t>
              </a: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哲学</a:t>
              </a:r>
              <a:r>
                <a:rPr lang="en-US" altLang="zh-CN" dirty="0">
                  <a:solidFill>
                    <a:schemeClr val="bg1"/>
                  </a:solidFill>
                  <a:sym typeface="+mn-ea"/>
                </a:rPr>
                <a:t>”</a:t>
              </a: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定义的多元性：（张祥龙）中西印不同的哲学传统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chemeClr val="bg1"/>
                  </a:solidFill>
                  <a:sym typeface="+mn-ea"/>
                </a:rPr>
                <a:t>“</a:t>
              </a: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哲学</a:t>
              </a:r>
              <a:r>
                <a:rPr lang="en-US" altLang="zh-CN" dirty="0">
                  <a:solidFill>
                    <a:schemeClr val="bg1"/>
                  </a:solidFill>
                  <a:sym typeface="+mn-ea"/>
                </a:rPr>
                <a:t>”</a:t>
              </a: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定义的时代性：（张世英）西方哲学史上对哲学的三种界定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>
                <a:lnSpc>
                  <a:spcPct val="150000"/>
                </a:lnSpc>
              </a:pP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 smtClean="0">
                <a:sym typeface="+mn-lt"/>
              </a:rPr>
              <a:t>一、中国哲学的内容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0172701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6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0172701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6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0172701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0172701" y="1181099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6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0172701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0172701" y="1181099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6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10172701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6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10248901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0248901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69" name="iŝlîde"/>
          <p:cNvSpPr txBox="1"/>
          <p:nvPr/>
        </p:nvSpPr>
        <p:spPr>
          <a:xfrm>
            <a:off x="660400" y="1116965"/>
            <a:ext cx="10858500" cy="508889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dirty="0">
                <a:sym typeface="+mn-ea"/>
              </a:rPr>
              <a:t>哲学的内容</a:t>
            </a:r>
            <a:endParaRPr lang="zh-CN" dirty="0">
              <a:sym typeface="+mn-ea"/>
            </a:endParaRPr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dirty="0">
                <a:sym typeface="+mn-ea"/>
              </a:rPr>
              <a:t>现代学术视野下中国学者对哲学内容的早期认识</a:t>
            </a:r>
            <a:endParaRPr lang="zh-CN" dirty="0">
              <a:sym typeface="+mn-ea"/>
            </a:endParaRPr>
          </a:p>
          <a:p>
            <a:pPr defTabSz="913765">
              <a:lnSpc>
                <a:spcPct val="150000"/>
              </a:lnSpc>
              <a:buSzPct val="25000"/>
              <a:defRPr/>
            </a:pPr>
            <a:endParaRPr lang="zh-CN" altLang="en-US" dirty="0">
              <a:sym typeface="+mn-ea"/>
            </a:endParaRPr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>
                <a:sym typeface="+mn-ea"/>
              </a:rPr>
              <a:t>冯友兰《中国哲学史》（</a:t>
            </a:r>
            <a:r>
              <a:rPr lang="en-US" altLang="zh-CN" dirty="0">
                <a:sym typeface="+mn-ea"/>
              </a:rPr>
              <a:t>1931</a:t>
            </a:r>
            <a:r>
              <a:rPr lang="zh-CN" altLang="en-US" dirty="0">
                <a:sym typeface="+mn-ea"/>
              </a:rPr>
              <a:t>年）：</a:t>
            </a:r>
            <a:endParaRPr lang="zh-CN" altLang="en-US" dirty="0">
              <a:sym typeface="+mn-ea"/>
            </a:endParaRPr>
          </a:p>
          <a:p>
            <a:pPr defTabSz="913765">
              <a:lnSpc>
                <a:spcPct val="150000"/>
              </a:lnSpc>
              <a:buSzPct val="25000"/>
              <a:defRPr/>
            </a:pPr>
            <a:endParaRPr lang="zh-CN" altLang="en-US" dirty="0">
              <a:sym typeface="+mn-ea"/>
            </a:endParaRPr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/>
              <a:t>第一部分</a:t>
            </a:r>
            <a:r>
              <a:rPr lang="en-US" altLang="zh-CN" dirty="0"/>
              <a:t>  </a:t>
            </a:r>
            <a:r>
              <a:rPr lang="zh-CN" altLang="en-US" dirty="0"/>
              <a:t>宇宙论：本体论：研究</a:t>
            </a:r>
            <a:r>
              <a:rPr lang="en-US" altLang="zh-CN" dirty="0"/>
              <a:t>“</a:t>
            </a:r>
            <a:r>
              <a:rPr lang="zh-CN" altLang="en-US" dirty="0"/>
              <a:t>存在</a:t>
            </a:r>
            <a:r>
              <a:rPr lang="en-US" altLang="zh-CN" dirty="0"/>
              <a:t>”</a:t>
            </a:r>
            <a:r>
              <a:rPr lang="zh-CN" altLang="en-US" dirty="0"/>
              <a:t>之本体及</a:t>
            </a:r>
            <a:r>
              <a:rPr lang="en-US" altLang="zh-CN" dirty="0"/>
              <a:t>“</a:t>
            </a:r>
            <a:r>
              <a:rPr lang="zh-CN" altLang="en-US" dirty="0"/>
              <a:t>真实</a:t>
            </a:r>
            <a:r>
              <a:rPr lang="en-US" altLang="zh-CN" dirty="0"/>
              <a:t>”</a:t>
            </a:r>
            <a:r>
              <a:rPr lang="zh-CN" altLang="en-US" dirty="0"/>
              <a:t>之要素者；</a:t>
            </a:r>
            <a:endParaRPr lang="zh-CN" altLang="en-US" dirty="0"/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en-US" altLang="zh-CN" dirty="0"/>
              <a:t>                               </a:t>
            </a:r>
            <a:r>
              <a:rPr lang="zh-CN" altLang="en-US" dirty="0"/>
              <a:t>宇宙论（狭义）：研究世界之发生及其历史、其归宿者。</a:t>
            </a:r>
            <a:endParaRPr lang="zh-CN" altLang="en-US" dirty="0"/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/>
              <a:t>第二部分</a:t>
            </a:r>
            <a:r>
              <a:rPr lang="en-US" altLang="zh-CN" dirty="0"/>
              <a:t>  </a:t>
            </a:r>
            <a:r>
              <a:rPr lang="zh-CN" altLang="en-US" dirty="0"/>
              <a:t>人生论：心理学：研究人究竟是什么者；</a:t>
            </a:r>
            <a:endParaRPr lang="zh-CN" altLang="en-US" dirty="0"/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en-US" altLang="zh-CN" dirty="0"/>
              <a:t>                               </a:t>
            </a:r>
            <a:r>
              <a:rPr lang="zh-CN" altLang="en-US" dirty="0"/>
              <a:t>伦理学（狭义）政治社会哲学等：研究人究竟应该怎么者。</a:t>
            </a:r>
            <a:endParaRPr lang="zh-CN" altLang="en-US" dirty="0"/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/>
              <a:t>第三部分</a:t>
            </a:r>
            <a:r>
              <a:rPr lang="en-US" altLang="zh-CN" dirty="0"/>
              <a:t>  </a:t>
            </a:r>
            <a:r>
              <a:rPr lang="zh-CN" altLang="en-US" dirty="0"/>
              <a:t>知识论：知识论（狭义）：研究知识之性质者；</a:t>
            </a:r>
            <a:endParaRPr lang="zh-CN" altLang="en-US" dirty="0"/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en-US" altLang="zh-CN" dirty="0"/>
              <a:t>                               </a:t>
            </a:r>
            <a:r>
              <a:rPr lang="zh-CN" altLang="en-US" dirty="0"/>
              <a:t>论理学：研究知识之规范者。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 smtClean="0">
                <a:sym typeface="+mn-lt"/>
              </a:rPr>
              <a:t>一、中国哲学的内容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0172701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6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0172701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6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0172701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0172701" y="1181099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6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0172701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0172701" y="1181099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6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10172701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6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10248901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0248901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69" name="iŝlîde"/>
          <p:cNvSpPr txBox="1"/>
          <p:nvPr/>
        </p:nvSpPr>
        <p:spPr>
          <a:xfrm>
            <a:off x="660400" y="1028700"/>
            <a:ext cx="10858500" cy="5389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rmAutofit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dirty="0">
                <a:sym typeface="+mn-ea"/>
              </a:rPr>
              <a:t>哲学的内容</a:t>
            </a:r>
            <a:endParaRPr lang="zh-CN" dirty="0">
              <a:sym typeface="+mn-ea"/>
            </a:endParaRPr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dirty="0">
                <a:sym typeface="+mn-ea"/>
              </a:rPr>
              <a:t>现代学术视野下中国学者对哲学内容的早期认识</a:t>
            </a:r>
            <a:endParaRPr lang="zh-CN" dirty="0">
              <a:sym typeface="+mn-ea"/>
            </a:endParaRPr>
          </a:p>
          <a:p>
            <a:pPr defTabSz="913765">
              <a:lnSpc>
                <a:spcPct val="150000"/>
              </a:lnSpc>
              <a:buSzPct val="25000"/>
              <a:defRPr/>
            </a:pPr>
            <a:endParaRPr lang="zh-CN" altLang="en-US" dirty="0">
              <a:sym typeface="+mn-ea"/>
            </a:endParaRPr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>
                <a:sym typeface="+mn-ea"/>
              </a:rPr>
              <a:t>张岱年《中国哲学大纲》（</a:t>
            </a:r>
            <a:r>
              <a:rPr lang="en-US" altLang="zh-CN" dirty="0">
                <a:sym typeface="+mn-ea"/>
              </a:rPr>
              <a:t>1936</a:t>
            </a:r>
            <a:r>
              <a:rPr lang="zh-CN" altLang="en-US" dirty="0">
                <a:sym typeface="+mn-ea"/>
              </a:rPr>
              <a:t>年）：</a:t>
            </a:r>
            <a:endParaRPr lang="zh-CN" altLang="en-US" dirty="0">
              <a:sym typeface="+mn-ea"/>
            </a:endParaRPr>
          </a:p>
          <a:p>
            <a:pPr defTabSz="913765">
              <a:lnSpc>
                <a:spcPct val="150000"/>
              </a:lnSpc>
              <a:buSzPct val="25000"/>
              <a:defRPr/>
            </a:pPr>
            <a:endParaRPr lang="zh-CN" altLang="en-US" dirty="0">
              <a:sym typeface="+mn-ea"/>
            </a:endParaRPr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/>
              <a:t>第一部分</a:t>
            </a:r>
            <a:r>
              <a:rPr lang="en-US" altLang="zh-CN" dirty="0"/>
              <a:t>  </a:t>
            </a:r>
            <a:r>
              <a:rPr lang="zh-CN" altLang="en-US" dirty="0"/>
              <a:t>宇宙论：本根论或道体论：关于宇宙之最究竟者的理论；</a:t>
            </a:r>
            <a:endParaRPr lang="zh-CN" altLang="en-US" dirty="0"/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en-US" altLang="zh-CN" dirty="0"/>
              <a:t>                               </a:t>
            </a:r>
            <a:r>
              <a:rPr lang="zh-CN" altLang="en-US" dirty="0"/>
              <a:t>大化论：关于宇宙历程之主要内容。</a:t>
            </a:r>
            <a:endParaRPr lang="zh-CN" altLang="en-US" dirty="0"/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/>
              <a:t>第二部分</a:t>
            </a:r>
            <a:r>
              <a:rPr lang="en-US" altLang="zh-CN" dirty="0"/>
              <a:t>  </a:t>
            </a:r>
            <a:r>
              <a:rPr lang="zh-CN" altLang="en-US" dirty="0"/>
              <a:t>人生论：天人关系论：关于人与本根之关系，人在宇宙中之位置的论究；</a:t>
            </a:r>
            <a:endParaRPr lang="zh-CN" altLang="en-US" dirty="0"/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en-US" altLang="zh-CN" dirty="0"/>
              <a:t>                               </a:t>
            </a:r>
            <a:r>
              <a:rPr lang="zh-CN" altLang="en-US" dirty="0"/>
              <a:t>人性论：关于人性之研讨；</a:t>
            </a:r>
            <a:endParaRPr lang="zh-CN" altLang="en-US" dirty="0"/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en-US" altLang="zh-CN" dirty="0"/>
              <a:t>                               </a:t>
            </a:r>
            <a:r>
              <a:rPr lang="zh-CN" altLang="en-US" dirty="0"/>
              <a:t>人生理想论或人生最高准则论：关于理想生活之基本准则之理论；</a:t>
            </a:r>
            <a:endParaRPr lang="zh-CN" altLang="en-US" dirty="0"/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en-US" altLang="zh-CN" dirty="0"/>
              <a:t>                               </a:t>
            </a:r>
            <a:r>
              <a:rPr lang="zh-CN" altLang="en-US" dirty="0"/>
              <a:t>人生问题论：关于人生的各种问题之讨论。</a:t>
            </a:r>
            <a:endParaRPr lang="zh-CN" altLang="en-US" dirty="0"/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/>
              <a:t>第三部分</a:t>
            </a:r>
            <a:r>
              <a:rPr lang="en-US" altLang="zh-CN" dirty="0"/>
              <a:t>  </a:t>
            </a:r>
            <a:r>
              <a:rPr lang="zh-CN" altLang="en-US" dirty="0"/>
              <a:t>致知论：知论：关于知之性质、可能、表准之理论；</a:t>
            </a:r>
            <a:endParaRPr lang="zh-CN" altLang="en-US" dirty="0"/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en-US" altLang="zh-CN" dirty="0"/>
              <a:t>                               </a:t>
            </a:r>
            <a:r>
              <a:rPr lang="zh-CN" altLang="en-US" dirty="0"/>
              <a:t>方法论：关于求道之方、名言与辩等之理论。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sym typeface="+mn-ea"/>
              </a:rPr>
              <a:t>一、中国哲学的内容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1" y="1304925"/>
            <a:ext cx="10858499" cy="5104765"/>
            <a:chOff x="673101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4397615" y="1123951"/>
              <a:ext cx="7434729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1" y="1123952"/>
              <a:ext cx="3724514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>
                  <a:sym typeface="+mn-ea"/>
                </a:rPr>
                <a:t>西方哲学与中国哲学</a:t>
              </a:r>
              <a:endParaRPr lang="zh-CN" dirty="0">
                <a:sym typeface="+mn-ea"/>
              </a:endParaRPr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4693037" y="1322504"/>
              <a:ext cx="6844228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dirty="0">
                  <a:solidFill>
                    <a:schemeClr val="bg1"/>
                  </a:solidFill>
                  <a:sym typeface="+mn-ea"/>
                </a:rPr>
                <a:t>现代学术意义上的中国哲学</a:t>
              </a:r>
              <a:endParaRPr lang="zh-CN" dirty="0">
                <a:solidFill>
                  <a:schemeClr val="bg1"/>
                </a:solidFill>
                <a:sym typeface="+mn-ea"/>
              </a:endParaRPr>
            </a:p>
            <a:p>
              <a:pPr>
                <a:lnSpc>
                  <a:spcPct val="150000"/>
                </a:lnSpc>
              </a:pPr>
              <a:endParaRPr lang="zh-CN" dirty="0">
                <a:solidFill>
                  <a:schemeClr val="bg1"/>
                </a:solidFill>
                <a:sym typeface="+mn-ea"/>
              </a:endParaRPr>
            </a:p>
            <a:p>
              <a:pPr>
                <a:lnSpc>
                  <a:spcPct val="150000"/>
                </a:lnSpc>
              </a:pPr>
              <a:r>
                <a:rPr lang="zh-CN" dirty="0">
                  <a:solidFill>
                    <a:schemeClr val="bg1"/>
                  </a:solidFill>
                  <a:sym typeface="+mn-ea"/>
                </a:rPr>
                <a:t>冯友兰《中国哲学史》（</a:t>
              </a:r>
              <a:r>
                <a:rPr lang="en-US" altLang="zh-CN" dirty="0">
                  <a:solidFill>
                    <a:schemeClr val="bg1"/>
                  </a:solidFill>
                  <a:sym typeface="+mn-ea"/>
                </a:rPr>
                <a:t>1931</a:t>
              </a: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年）：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>
                <a:lnSpc>
                  <a:spcPct val="150000"/>
                </a:lnSpc>
              </a:pP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所谓中国哲学者，即中国之某种学问或某种学问之某部分之可以西洋所谓哲学名之者。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>
                <a:lnSpc>
                  <a:spcPct val="150000"/>
                </a:lnSpc>
              </a:pPr>
              <a:endParaRPr lang="en-US" altLang="zh-CN" dirty="0">
                <a:solidFill>
                  <a:schemeClr val="bg1"/>
                </a:solidFill>
                <a:sym typeface="+mn-ea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吾人本亦可以中国所谓义理之学为主体，而作中国义理之学史。并可就西洋历史上各种学问中，将其可以义理之学名之者，选出而叙述之，以成一西洋义理之学史。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sym typeface="+mn-ea"/>
              </a:rPr>
              <a:t>一、中国哲学的内容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1" y="1304925"/>
            <a:ext cx="10858499" cy="5104765"/>
            <a:chOff x="673101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4397615" y="1123951"/>
              <a:ext cx="7434729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1" y="1123952"/>
              <a:ext cx="3724514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>
                  <a:sym typeface="+mn-ea"/>
                </a:rPr>
                <a:t>中国哲学的建构与探索</a:t>
              </a:r>
              <a:endParaRPr lang="zh-CN" dirty="0">
                <a:sym typeface="+mn-ea"/>
              </a:endParaRPr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4693037" y="1322504"/>
              <a:ext cx="6844228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dirty="0">
                  <a:solidFill>
                    <a:schemeClr val="bg1"/>
                  </a:solidFill>
                  <a:sym typeface="+mn-ea"/>
                </a:rPr>
                <a:t>冯友兰《新理学》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>
                <a:lnSpc>
                  <a:spcPct val="150000"/>
                </a:lnSpc>
              </a:pP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张岱年《中国哲学大纲》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>
                <a:lnSpc>
                  <a:spcPct val="150000"/>
                </a:lnSpc>
              </a:pP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李存山《中国传统哲学纲要》、张学智《中国哲学概论》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王博、王中江、陈少明《中国哲学》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8300" y="1956773"/>
            <a:ext cx="8902700" cy="1371600"/>
          </a:xfrm>
        </p:spPr>
        <p:txBody>
          <a:bodyPr>
            <a:normAutofit/>
          </a:bodyPr>
          <a:lstStyle/>
          <a:p>
            <a:pPr lvl="0"/>
            <a:r>
              <a:rPr lang="zh-CN" altLang="en-US" sz="3200" dirty="0" smtClean="0"/>
              <a:t>二、中国哲学与中国哲学史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 smtClean="0">
                <a:sym typeface="+mn-lt"/>
              </a:rPr>
              <a:t>二、中国哲学与中国哲学史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0172701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6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0172701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6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0172701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0172701" y="1181099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6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0172701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0172701" y="1181099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6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10172701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6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10248901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0248901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69" name="iŝlîde"/>
          <p:cNvSpPr txBox="1"/>
          <p:nvPr/>
        </p:nvSpPr>
        <p:spPr>
          <a:xfrm>
            <a:off x="781049" y="1386050"/>
            <a:ext cx="7511303" cy="430989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/>
              <a:t>中国哲学的“照着讲”与“接着讲”</a:t>
            </a:r>
            <a:endParaRPr lang="zh-CN" altLang="en-US" dirty="0"/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/>
              <a:t> </a:t>
            </a:r>
            <a:endParaRPr lang="zh-CN" altLang="en-US" dirty="0"/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/>
              <a:t>冯友兰</a:t>
            </a:r>
            <a:r>
              <a:rPr lang="en-US" altLang="zh-CN" dirty="0"/>
              <a:t>《</a:t>
            </a:r>
            <a:r>
              <a:rPr lang="zh-CN" altLang="en-US" dirty="0"/>
              <a:t>新理学</a:t>
            </a:r>
            <a:r>
              <a:rPr lang="en-US" altLang="zh-CN" dirty="0"/>
              <a:t>》</a:t>
            </a:r>
            <a:r>
              <a:rPr lang="zh-CN" altLang="en-US" dirty="0"/>
              <a:t>（</a:t>
            </a:r>
            <a:r>
              <a:rPr lang="en-US" altLang="zh-CN" dirty="0"/>
              <a:t>1939</a:t>
            </a:r>
            <a:r>
              <a:rPr lang="zh-CN" altLang="en-US" dirty="0"/>
              <a:t>年）：</a:t>
            </a:r>
            <a:endParaRPr lang="zh-CN" altLang="en-US" dirty="0"/>
          </a:p>
          <a:p>
            <a:pPr defTabSz="913765">
              <a:lnSpc>
                <a:spcPct val="150000"/>
              </a:lnSpc>
              <a:buSzPct val="25000"/>
              <a:defRPr/>
            </a:pPr>
            <a:endParaRPr lang="zh-CN" altLang="en-US" dirty="0"/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/>
              <a:t>照我们的看法，宋明以后底道学，有理学心学二派。我们现在所讲之系统，大体上是承接宋明道学中之理学一派。我们说“大体上”，因为在许多点，我们亦有与宋明以来底理学，大不相同之处。我们说“承接”，因为我们是“接著”宋明以来底理学讲底，而不是“照著”宋明以来底理学讲底。因此我们自号我们的系统为新理学。</a:t>
            </a:r>
            <a:endParaRPr lang="zh-CN" altLang="en-US" dirty="0"/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9174" y="1550430"/>
            <a:ext cx="2771776" cy="37488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 smtClean="0">
                <a:sym typeface="+mn-lt"/>
              </a:rPr>
              <a:t>二、中国哲学与中国哲学史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0172701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6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0172701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6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0172701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0172701" y="1181099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6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0172701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0172701" y="1181099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6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10172701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6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10248901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0248901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69" name="iŝlîde"/>
          <p:cNvSpPr txBox="1"/>
          <p:nvPr/>
        </p:nvSpPr>
        <p:spPr>
          <a:xfrm>
            <a:off x="781049" y="1395015"/>
            <a:ext cx="7511303" cy="49340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/>
              <a:t>哲学史研究的意义</a:t>
            </a:r>
            <a:endParaRPr lang="zh-CN" altLang="en-US" dirty="0"/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/>
              <a:t> </a:t>
            </a:r>
            <a:endParaRPr lang="zh-CN" altLang="en-US" dirty="0"/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/>
              <a:t>牟宗三</a:t>
            </a:r>
            <a:r>
              <a:rPr lang="en-US" altLang="zh-CN" dirty="0"/>
              <a:t>《</a:t>
            </a:r>
            <a:r>
              <a:rPr lang="zh-CN" altLang="en-US" dirty="0"/>
              <a:t>才性与玄理</a:t>
            </a:r>
            <a:r>
              <a:rPr lang="en-US" altLang="zh-CN" dirty="0"/>
              <a:t>·</a:t>
            </a:r>
            <a:r>
              <a:rPr lang="zh-CN" altLang="en-US" dirty="0"/>
              <a:t>原版自序二</a:t>
            </a:r>
            <a:r>
              <a:rPr lang="en-US" altLang="zh-CN" dirty="0"/>
              <a:t>》</a:t>
            </a:r>
            <a:r>
              <a:rPr lang="zh-CN" altLang="en-US" dirty="0"/>
              <a:t>（</a:t>
            </a:r>
            <a:r>
              <a:rPr lang="en-US" altLang="zh-CN" dirty="0"/>
              <a:t>1962</a:t>
            </a:r>
            <a:r>
              <a:rPr lang="zh-CN" altLang="en-US" dirty="0"/>
              <a:t>年）：</a:t>
            </a:r>
            <a:endParaRPr lang="zh-CN" altLang="en-US" dirty="0"/>
          </a:p>
          <a:p>
            <a:pPr defTabSz="913765">
              <a:lnSpc>
                <a:spcPct val="150000"/>
              </a:lnSpc>
              <a:buSzPct val="25000"/>
              <a:defRPr/>
            </a:pPr>
            <a:endParaRPr lang="zh-CN" altLang="en-US" dirty="0"/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/>
              <a:t>中国晚周诸子是中国学术文化发展之原始模型，而以儒家为正宗。此后或引申或吸收，皆不能不受此原始模型之笼罩。引申者固为原始模型所规范，即吸收其他文化系统者，亦不能脱离此原始模型之笼罩，复亦不能取儒家正宗之地位而代之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 smtClean="0"/>
              <a:t>秦</a:t>
            </a:r>
            <a:r>
              <a:rPr lang="zh-CN" altLang="en-US" dirty="0"/>
              <a:t>以法家之术统一六国。西汉是继承儒家而发展之第一阶段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 smtClean="0"/>
              <a:t>至</a:t>
            </a:r>
            <a:r>
              <a:rPr lang="zh-CN" altLang="en-US" dirty="0"/>
              <a:t>乎魏晋，则是道家之复兴，道家玄理至此而得其充分之发扬。王弼、嵇康、向秀、郭象，其选也。适于此时而有印度佛教之传入。道家玄理之弘扬正是契接佛教之最佳桥梁。亦因此而拉长中国文化生命歧出之时间</a:t>
            </a:r>
            <a:r>
              <a:rPr lang="zh-CN" altLang="en-US" dirty="0" smtClean="0"/>
              <a:t>。</a:t>
            </a:r>
            <a:endParaRPr lang="zh-CN" altLang="en-US" dirty="0"/>
          </a:p>
          <a:p>
            <a:pPr defTabSz="913765">
              <a:lnSpc>
                <a:spcPct val="150000"/>
              </a:lnSpc>
              <a:buSzPct val="25000"/>
              <a:defRPr/>
            </a:pP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6725" y="1871162"/>
            <a:ext cx="2972175" cy="398271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 smtClean="0">
                <a:sym typeface="+mn-lt"/>
              </a:rPr>
              <a:t>二、中国哲学与中国哲学史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0172701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6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0172701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6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0172701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0172701" y="1181099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6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0172701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0172701" y="1181099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6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10172701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6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10248901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0248901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69" name="iŝlîde"/>
          <p:cNvSpPr txBox="1"/>
          <p:nvPr/>
        </p:nvSpPr>
        <p:spPr>
          <a:xfrm>
            <a:off x="781049" y="1395015"/>
            <a:ext cx="10737851" cy="49340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/>
              <a:t>哲学史研究的意义</a:t>
            </a:r>
            <a:endParaRPr lang="zh-CN" altLang="en-US" dirty="0"/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/>
              <a:t> </a:t>
            </a:r>
            <a:endParaRPr lang="zh-CN" altLang="en-US" dirty="0"/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/>
              <a:t>牟宗三</a:t>
            </a:r>
            <a:r>
              <a:rPr lang="en-US" altLang="zh-CN" dirty="0"/>
              <a:t>《</a:t>
            </a:r>
            <a:r>
              <a:rPr lang="zh-CN" altLang="en-US" dirty="0"/>
              <a:t>才性与玄理</a:t>
            </a:r>
            <a:r>
              <a:rPr lang="en-US" altLang="zh-CN" dirty="0"/>
              <a:t>·</a:t>
            </a:r>
            <a:r>
              <a:rPr lang="zh-CN" altLang="en-US" dirty="0"/>
              <a:t>原版自序二</a:t>
            </a:r>
            <a:r>
              <a:rPr lang="en-US" altLang="zh-CN" dirty="0"/>
              <a:t>》</a:t>
            </a:r>
            <a:r>
              <a:rPr lang="zh-CN" altLang="en-US" dirty="0"/>
              <a:t>（</a:t>
            </a:r>
            <a:r>
              <a:rPr lang="en-US" altLang="zh-CN" dirty="0"/>
              <a:t>1962</a:t>
            </a:r>
            <a:r>
              <a:rPr lang="zh-CN" altLang="en-US" dirty="0"/>
              <a:t>年）：</a:t>
            </a:r>
            <a:endParaRPr lang="zh-CN" altLang="en-US" dirty="0"/>
          </a:p>
          <a:p>
            <a:pPr defTabSz="913765">
              <a:lnSpc>
                <a:spcPct val="150000"/>
              </a:lnSpc>
              <a:buSzPct val="25000"/>
              <a:defRPr/>
            </a:pPr>
            <a:endParaRPr lang="zh-CN" altLang="en-US" dirty="0" smtClean="0"/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 smtClean="0"/>
              <a:t>所谓</a:t>
            </a:r>
            <a:r>
              <a:rPr lang="zh-CN" altLang="en-US" dirty="0"/>
              <a:t>歧出，是以正宗之儒家为准</a:t>
            </a:r>
            <a:r>
              <a:rPr lang="zh-CN" altLang="en-US" dirty="0" smtClean="0"/>
              <a:t>。</a:t>
            </a:r>
            <a:r>
              <a:rPr lang="zh-CN" altLang="en-US" dirty="0"/>
              <a:t>文化生命之歧出是文化生命之暂时离其自己。离其自己正所以充实其自己也</a:t>
            </a:r>
            <a:r>
              <a:rPr lang="zh-CN" altLang="en-US" dirty="0" smtClean="0"/>
              <a:t>。</a:t>
            </a:r>
            <a:r>
              <a:rPr lang="zh-CN" altLang="en-US" dirty="0" smtClean="0"/>
              <a:t>魏</a:t>
            </a:r>
            <a:r>
              <a:rPr lang="zh-CN" altLang="en-US" dirty="0"/>
              <a:t>晋南北朝隋唐七八百年间之长期歧出，不可谓中国文化生命之容量不弘大。容量弘大，则其所弘扬所吸收者必全尽，全尽必深远。全尽而深远之弘扬与吸收，其在自己之文化生命中所引起之刺激与浸润亦必深刻而洽浃。文化之发展不过是生命之清澈与理性之表现。故在歧出中其所弘扬与吸收者皆有助于其生命之清澈与理性之表现。故此长时期之歧出，吾亦可曰生命之大开。</a:t>
            </a:r>
            <a:endParaRPr lang="en-US" altLang="zh-CN" dirty="0"/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/>
              <a:t>至乎宋明，则为中国文化生命之归其自己而为大合。故宋明儒学是继承儒家而发展之第二阶段。</a:t>
            </a:r>
            <a:endParaRPr lang="en-US" altLang="zh-CN" dirty="0"/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/>
              <a:t>至乎今日而与西方文化相接触，则亦将复有另一大开大合之阶段之来临。此中国文化生命发展之大脉也</a:t>
            </a:r>
            <a:r>
              <a:rPr lang="zh-CN" altLang="en-US" dirty="0" smtClean="0"/>
              <a:t>。</a:t>
            </a:r>
            <a:endParaRPr lang="zh-CN" altLang="en-US" dirty="0" smtClean="0"/>
          </a:p>
          <a:p>
            <a:pPr defTabSz="913765">
              <a:lnSpc>
                <a:spcPct val="150000"/>
              </a:lnSpc>
              <a:buSzPct val="25000"/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8300" y="1956773"/>
            <a:ext cx="8902700" cy="1371600"/>
          </a:xfrm>
        </p:spPr>
        <p:txBody>
          <a:bodyPr>
            <a:normAutofit/>
          </a:bodyPr>
          <a:lstStyle/>
          <a:p>
            <a:pPr lvl="0"/>
            <a:r>
              <a:rPr lang="zh-CN" altLang="en-US" sz="3200" dirty="0" smtClean="0"/>
              <a:t>三、中国哲学史的研究方法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 smtClean="0">
                <a:sym typeface="+mn-lt"/>
              </a:rPr>
              <a:t>三、中国哲学史的研究方法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0172701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6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0172701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6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0172701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0172701" y="1181099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6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0172701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0172701" y="1181099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6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10172701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6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10248901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0248901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69" name="iŝlîde"/>
          <p:cNvSpPr txBox="1"/>
          <p:nvPr/>
        </p:nvSpPr>
        <p:spPr>
          <a:xfrm>
            <a:off x="781050" y="1386050"/>
            <a:ext cx="5105400" cy="465616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>
                <a:sym typeface="+mn-ea"/>
              </a:rPr>
              <a:t>始终存在的方法问题</a:t>
            </a:r>
            <a:endParaRPr lang="zh-CN" altLang="en-US" dirty="0"/>
          </a:p>
          <a:p>
            <a:pPr defTabSz="913765">
              <a:lnSpc>
                <a:spcPct val="150000"/>
              </a:lnSpc>
              <a:buSzPct val="25000"/>
              <a:defRPr/>
            </a:pPr>
            <a:endParaRPr lang="zh-CN" dirty="0"/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>
                <a:sym typeface="+mn-ea"/>
              </a:rPr>
              <a:t>冯友兰《中国哲学史》</a:t>
            </a:r>
            <a:endParaRPr lang="zh-CN" altLang="en-US" dirty="0">
              <a:sym typeface="+mn-ea"/>
            </a:endParaRPr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 smtClean="0">
                <a:sym typeface="+mn-ea"/>
              </a:rPr>
              <a:t>陈寅恪</a:t>
            </a:r>
            <a:r>
              <a:rPr lang="en-US" altLang="zh-CN" dirty="0">
                <a:sym typeface="+mn-ea"/>
              </a:rPr>
              <a:t>《</a:t>
            </a:r>
            <a:r>
              <a:rPr lang="zh-CN" altLang="en-US" dirty="0">
                <a:sym typeface="+mn-ea"/>
              </a:rPr>
              <a:t>冯友兰</a:t>
            </a:r>
            <a:r>
              <a:rPr lang="en-US" altLang="zh-CN" dirty="0">
                <a:sym typeface="+mn-ea"/>
              </a:rPr>
              <a:t>〈</a:t>
            </a:r>
            <a:r>
              <a:rPr lang="zh-CN" altLang="en-US" dirty="0">
                <a:sym typeface="+mn-ea"/>
              </a:rPr>
              <a:t>中国哲学史</a:t>
            </a:r>
            <a:r>
              <a:rPr lang="en-US" altLang="zh-CN" dirty="0">
                <a:sym typeface="+mn-ea"/>
              </a:rPr>
              <a:t>〉</a:t>
            </a:r>
            <a:r>
              <a:rPr lang="zh-CN" altLang="en-US" dirty="0">
                <a:sym typeface="+mn-ea"/>
              </a:rPr>
              <a:t>审查报告</a:t>
            </a:r>
            <a:r>
              <a:rPr lang="en-US" altLang="zh-CN" dirty="0">
                <a:sym typeface="+mn-ea"/>
              </a:rPr>
              <a:t>》</a:t>
            </a:r>
            <a:endParaRPr 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8355" y="1550430"/>
            <a:ext cx="2552700" cy="3703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9174" y="1550430"/>
            <a:ext cx="2771776" cy="37488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 smtClean="0">
                <a:sym typeface="+mn-lt"/>
              </a:rPr>
              <a:t>三、中国哲学史的研究方法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0172701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6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0172701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6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0172701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0172701" y="1181099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6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0172701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0172701" y="1181099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6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10172701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6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10248901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0248901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69" name="iŝlîde"/>
          <p:cNvSpPr txBox="1"/>
          <p:nvPr/>
        </p:nvSpPr>
        <p:spPr>
          <a:xfrm>
            <a:off x="781050" y="1386205"/>
            <a:ext cx="10737850" cy="465645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rmAutofit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/>
              <a:t>始终存在的方法问题</a:t>
            </a:r>
            <a:endParaRPr lang="zh-CN" altLang="en-US" dirty="0"/>
          </a:p>
          <a:p>
            <a:pPr defTabSz="913765">
              <a:lnSpc>
                <a:spcPct val="150000"/>
              </a:lnSpc>
              <a:buSzPct val="25000"/>
              <a:defRPr/>
            </a:pPr>
            <a:endParaRPr lang="zh-CN" altLang="en-US" dirty="0"/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/>
              <a:t>冯友兰《中国哲学史》：</a:t>
            </a:r>
            <a:endParaRPr lang="zh-CN" altLang="en-US" dirty="0"/>
          </a:p>
          <a:p>
            <a:pPr defTabSz="913765">
              <a:lnSpc>
                <a:spcPct val="150000"/>
              </a:lnSpc>
              <a:buSzPct val="25000"/>
              <a:defRPr/>
            </a:pPr>
            <a:endParaRPr lang="zh-CN" altLang="en-US" dirty="0"/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/>
              <a:t>（引陆懋德《周秦哲学史》）吾国哲学略于方法组织，近人多以此为病，不知吾国哲学之精神，即在于此。</a:t>
            </a:r>
            <a:endParaRPr lang="en-US" altLang="zh-CN" dirty="0"/>
          </a:p>
          <a:p>
            <a:pPr defTabSz="913765">
              <a:lnSpc>
                <a:spcPct val="150000"/>
              </a:lnSpc>
              <a:buSzPct val="25000"/>
              <a:defRPr/>
            </a:pPr>
            <a:endParaRPr lang="zh-CN" altLang="en-US" dirty="0"/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/>
              <a:t>中国哲学家之书，较少精心结撰，首尾贯串者，故论者多谓中国哲学无系统。上文所引近人所谓</a:t>
            </a:r>
            <a:r>
              <a:rPr lang="en-US" altLang="zh-CN" dirty="0"/>
              <a:t>“</a:t>
            </a:r>
            <a:r>
              <a:rPr lang="zh-CN" altLang="en-US" dirty="0">
                <a:sym typeface="+mn-ea"/>
              </a:rPr>
              <a:t>吾国哲学略于方法组织</a:t>
            </a:r>
            <a:r>
              <a:rPr lang="en-US" altLang="zh-CN" dirty="0"/>
              <a:t>”</a:t>
            </a:r>
            <a:r>
              <a:rPr lang="zh-CN" altLang="en-US" dirty="0"/>
              <a:t>者，似亦指此。然所谓系统有二：即形式上的系统和与实质上的系统。此两者并无连带的关系。中国哲学家的哲学，虽无形式上的系统；但如谓中国哲学家的哲学无实质上的系统，则即等于谓中国哲学家之哲学不成东西，中国无哲学。</a:t>
            </a:r>
            <a:r>
              <a:rPr lang="en-US" altLang="zh-CN" dirty="0"/>
              <a:t>……</a:t>
            </a:r>
            <a:r>
              <a:rPr lang="zh-CN" altLang="en-US" dirty="0"/>
              <a:t>中国哲学家之哲学之形式上的系统，虽不如西洋哲学家；但实质上的系统，则同有也。</a:t>
            </a:r>
            <a:r>
              <a:rPr lang="zh-CN" altLang="en-US" dirty="0">
                <a:solidFill>
                  <a:srgbClr val="FF0000"/>
                </a:solidFill>
              </a:rPr>
              <a:t>讲哲学史之一要义，即是要在形式上无系统之哲学中，找出其实质的系统。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 smtClean="0">
                <a:sym typeface="+mn-lt"/>
              </a:rPr>
              <a:t>三、中国哲学史的研究方法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0172701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6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0172701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6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0172701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0172701" y="1181099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6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0172701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0172701" y="1181099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6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10172701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6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10248901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0248901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69" name="iŝlîde"/>
          <p:cNvSpPr txBox="1"/>
          <p:nvPr/>
        </p:nvSpPr>
        <p:spPr>
          <a:xfrm>
            <a:off x="781050" y="1386205"/>
            <a:ext cx="10737850" cy="465645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 smtClean="0"/>
              <a:t>始终存在的方法问题</a:t>
            </a:r>
            <a:endParaRPr lang="zh-CN" altLang="en-US" dirty="0" smtClean="0"/>
          </a:p>
          <a:p>
            <a:pPr defTabSz="913765">
              <a:lnSpc>
                <a:spcPct val="150000"/>
              </a:lnSpc>
              <a:buSzPct val="25000"/>
              <a:defRPr/>
            </a:pPr>
            <a:endParaRPr lang="zh-CN" altLang="en-US" dirty="0" smtClean="0"/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 smtClean="0"/>
              <a:t>陈寅恪</a:t>
            </a:r>
            <a:r>
              <a:rPr lang="en-US" altLang="zh-CN" dirty="0"/>
              <a:t>《</a:t>
            </a:r>
            <a:r>
              <a:rPr lang="zh-CN" altLang="en-US" dirty="0"/>
              <a:t>冯友兰</a:t>
            </a:r>
            <a:r>
              <a:rPr lang="en-US" altLang="zh-CN" dirty="0"/>
              <a:t>〈</a:t>
            </a:r>
            <a:r>
              <a:rPr lang="zh-CN" altLang="en-US" dirty="0"/>
              <a:t>中国哲学史</a:t>
            </a:r>
            <a:r>
              <a:rPr lang="en-US" altLang="zh-CN" dirty="0"/>
              <a:t>〉</a:t>
            </a:r>
            <a:r>
              <a:rPr lang="zh-CN" altLang="en-US" dirty="0"/>
              <a:t>审查报告</a:t>
            </a:r>
            <a:r>
              <a:rPr lang="en-US" altLang="zh-CN" dirty="0"/>
              <a:t>》</a:t>
            </a:r>
            <a:r>
              <a:rPr lang="zh-CN" altLang="en-US" dirty="0"/>
              <a:t>：</a:t>
            </a:r>
            <a:endParaRPr lang="en-US" altLang="zh-CN" dirty="0"/>
          </a:p>
          <a:p>
            <a:pPr defTabSz="913765">
              <a:lnSpc>
                <a:spcPct val="150000"/>
              </a:lnSpc>
              <a:buSzPct val="25000"/>
              <a:defRPr/>
            </a:pPr>
            <a:endParaRPr lang="zh-CN" altLang="en-US" dirty="0"/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/>
              <a:t>因今日所能见之古代材料，或散佚而仅存，或晦涩而难解，非经过解释及排比之程序，绝无哲学史之可言。然若加以连贯综合之搜集，及统系条理之整理，则著者有意无意之间，往往依其自身所遭际之时代，所居处之环境，所熏染之学说，以推测解释古人之意志。</a:t>
            </a:r>
            <a:endParaRPr lang="zh-CN" altLang="en-US" dirty="0"/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>
                <a:sym typeface="+mn-ea"/>
              </a:rPr>
              <a:t>由此之故，今日之谈中国古代哲学者，大抵即谈其今日自身之哲学者也。所著之中国哲学史者，即其今日自身之哲学史者也。其言论愈有条理统系，则去古人学说之真相愈远。</a:t>
            </a:r>
            <a:r>
              <a:rPr lang="en-US" altLang="zh-CN" dirty="0">
                <a:sym typeface="+mn-ea"/>
              </a:rPr>
              <a:t>……</a:t>
            </a:r>
            <a:r>
              <a:rPr lang="zh-CN" altLang="en-US" dirty="0">
                <a:sym typeface="+mn-ea"/>
              </a:rPr>
              <a:t>此近日中国号称整理国故之普通状况，诚可为长叹息者也。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 smtClean="0">
                <a:sym typeface="+mn-lt"/>
              </a:rPr>
              <a:t>三、中国哲学史的研究方法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0172701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6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0172701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6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0172701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0172701" y="1181099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6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0172701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0172701" y="1181099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6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10172701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6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10248901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0248901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69" name="iŝlîde"/>
          <p:cNvSpPr txBox="1"/>
          <p:nvPr/>
        </p:nvSpPr>
        <p:spPr>
          <a:xfrm>
            <a:off x="781050" y="1386205"/>
            <a:ext cx="10737850" cy="465645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 smtClean="0"/>
              <a:t>始终存在的方法问题</a:t>
            </a:r>
            <a:endParaRPr lang="zh-CN" altLang="en-US" dirty="0" smtClean="0"/>
          </a:p>
          <a:p>
            <a:pPr defTabSz="913765">
              <a:lnSpc>
                <a:spcPct val="150000"/>
              </a:lnSpc>
              <a:buSzPct val="25000"/>
              <a:defRPr/>
            </a:pPr>
            <a:endParaRPr lang="zh-CN" altLang="en-US" dirty="0" smtClean="0"/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 smtClean="0"/>
              <a:t>陈寅恪</a:t>
            </a:r>
            <a:r>
              <a:rPr lang="en-US" altLang="zh-CN" dirty="0"/>
              <a:t>《</a:t>
            </a:r>
            <a:r>
              <a:rPr lang="zh-CN" altLang="en-US" dirty="0"/>
              <a:t>冯友兰</a:t>
            </a:r>
            <a:r>
              <a:rPr lang="en-US" altLang="zh-CN" dirty="0"/>
              <a:t>〈</a:t>
            </a:r>
            <a:r>
              <a:rPr lang="zh-CN" altLang="en-US" dirty="0"/>
              <a:t>中国哲学史</a:t>
            </a:r>
            <a:r>
              <a:rPr lang="en-US" altLang="zh-CN" dirty="0"/>
              <a:t>〉</a:t>
            </a:r>
            <a:r>
              <a:rPr lang="zh-CN" altLang="en-US" dirty="0"/>
              <a:t>审查报告</a:t>
            </a:r>
            <a:r>
              <a:rPr lang="en-US" altLang="zh-CN" dirty="0"/>
              <a:t>》</a:t>
            </a:r>
            <a:r>
              <a:rPr lang="zh-CN" altLang="en-US" dirty="0"/>
              <a:t>：</a:t>
            </a:r>
            <a:endParaRPr lang="en-US" altLang="zh-CN" dirty="0"/>
          </a:p>
          <a:p>
            <a:pPr defTabSz="913765">
              <a:lnSpc>
                <a:spcPct val="150000"/>
              </a:lnSpc>
              <a:buSzPct val="25000"/>
              <a:defRPr/>
            </a:pPr>
            <a:endParaRPr lang="zh-CN" altLang="en-US" dirty="0"/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>
                <a:sym typeface="+mn-ea"/>
              </a:rPr>
              <a:t>凡著中国古代哲学史者，其对于古人之学说，应具</a:t>
            </a:r>
            <a:r>
              <a:rPr lang="zh-CN" altLang="en-US" b="1" dirty="0">
                <a:solidFill>
                  <a:srgbClr val="FF0000"/>
                </a:solidFill>
                <a:sym typeface="+mn-ea"/>
              </a:rPr>
              <a:t>了解之同情</a:t>
            </a:r>
            <a:r>
              <a:rPr lang="zh-CN" altLang="en-US" dirty="0">
                <a:sym typeface="+mn-ea"/>
              </a:rPr>
              <a:t>，方可下笔。</a:t>
            </a:r>
            <a:r>
              <a:rPr lang="en-US" altLang="zh-CN" dirty="0">
                <a:sym typeface="+mn-ea"/>
              </a:rPr>
              <a:t>……</a:t>
            </a:r>
            <a:endParaRPr lang="en-US" altLang="zh-CN" dirty="0"/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>
                <a:sym typeface="+mn-ea"/>
              </a:rPr>
              <a:t>所谓真了解者，必神游冥想，与立说之古人，处于同一境界，而对于其持论所以不得不如是之苦心孤诣，表一种之同情，始能批评其学说之是非得失，而无隔阂肤廓之论。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8300" y="1956773"/>
            <a:ext cx="8902700" cy="1371600"/>
          </a:xfrm>
        </p:spPr>
        <p:txBody>
          <a:bodyPr>
            <a:normAutofit/>
          </a:bodyPr>
          <a:lstStyle/>
          <a:p>
            <a:pPr lvl="0"/>
            <a:r>
              <a:rPr lang="zh-CN" altLang="en-US" sz="3200" dirty="0" smtClean="0"/>
              <a:t>四、课程安排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 smtClean="0">
                <a:sym typeface="+mn-lt"/>
              </a:rPr>
              <a:t>四、课程安排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0172701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6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0172701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6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0172701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0172701" y="1181099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6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0172701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0172701" y="1181099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6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10172701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6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10248901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0248901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69" name="iŝlîde"/>
          <p:cNvSpPr txBox="1"/>
          <p:nvPr/>
        </p:nvSpPr>
        <p:spPr>
          <a:xfrm>
            <a:off x="781050" y="1386205"/>
            <a:ext cx="5314950" cy="465645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 smtClean="0">
                <a:sym typeface="+mn-ea"/>
              </a:rPr>
              <a:t>第</a:t>
            </a:r>
            <a:r>
              <a:rPr lang="en-US" altLang="zh-CN" dirty="0" smtClean="0">
                <a:sym typeface="+mn-ea"/>
              </a:rPr>
              <a:t>1</a:t>
            </a:r>
            <a:r>
              <a:rPr lang="zh-CN" altLang="en-US" dirty="0" smtClean="0">
                <a:sym typeface="+mn-ea"/>
              </a:rPr>
              <a:t>周：引言</a:t>
            </a:r>
            <a:endParaRPr lang="zh-CN" altLang="en-US" dirty="0" smtClean="0">
              <a:sym typeface="+mn-ea"/>
            </a:endParaRPr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 smtClean="0">
                <a:sym typeface="+mn-ea"/>
              </a:rPr>
              <a:t>第</a:t>
            </a:r>
            <a:r>
              <a:rPr lang="en-US" altLang="zh-CN" dirty="0" smtClean="0">
                <a:sym typeface="+mn-ea"/>
              </a:rPr>
              <a:t>2</a:t>
            </a:r>
            <a:r>
              <a:rPr lang="zh-CN" altLang="en-US" dirty="0" smtClean="0">
                <a:sym typeface="+mn-ea"/>
              </a:rPr>
              <a:t>周：孔子</a:t>
            </a:r>
            <a:endParaRPr lang="zh-CN" altLang="en-US" dirty="0" smtClean="0">
              <a:sym typeface="+mn-ea"/>
            </a:endParaRPr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 smtClean="0">
                <a:sym typeface="+mn-ea"/>
              </a:rPr>
              <a:t>第</a:t>
            </a:r>
            <a:r>
              <a:rPr lang="en-US" altLang="zh-CN" dirty="0" smtClean="0">
                <a:sym typeface="+mn-ea"/>
              </a:rPr>
              <a:t>3</a:t>
            </a:r>
            <a:r>
              <a:rPr lang="zh-CN" altLang="en-US" dirty="0" smtClean="0">
                <a:sym typeface="+mn-ea"/>
              </a:rPr>
              <a:t>周：墨子</a:t>
            </a:r>
            <a:endParaRPr lang="zh-CN" altLang="en-US" dirty="0" smtClean="0">
              <a:sym typeface="+mn-ea"/>
            </a:endParaRPr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 smtClean="0">
                <a:sym typeface="+mn-ea"/>
              </a:rPr>
              <a:t>第</a:t>
            </a:r>
            <a:r>
              <a:rPr lang="en-US" altLang="zh-CN" dirty="0" smtClean="0">
                <a:sym typeface="+mn-ea"/>
              </a:rPr>
              <a:t>4</a:t>
            </a:r>
            <a:r>
              <a:rPr lang="zh-CN" altLang="en-US" dirty="0" smtClean="0">
                <a:sym typeface="+mn-ea"/>
              </a:rPr>
              <a:t>周：老子</a:t>
            </a:r>
            <a:endParaRPr lang="zh-CN" altLang="en-US" dirty="0" smtClean="0">
              <a:sym typeface="+mn-ea"/>
            </a:endParaRPr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 smtClean="0">
                <a:sym typeface="+mn-ea"/>
              </a:rPr>
              <a:t>第</a:t>
            </a:r>
            <a:r>
              <a:rPr lang="en-US" altLang="zh-CN" dirty="0" smtClean="0">
                <a:sym typeface="+mn-ea"/>
              </a:rPr>
              <a:t>5</a:t>
            </a:r>
            <a:r>
              <a:rPr lang="zh-CN" altLang="en-US" dirty="0" smtClean="0">
                <a:sym typeface="+mn-ea"/>
              </a:rPr>
              <a:t>周：国庆假期</a:t>
            </a:r>
            <a:endParaRPr lang="zh-CN" altLang="en-US" dirty="0" smtClean="0">
              <a:sym typeface="+mn-ea"/>
            </a:endParaRPr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 smtClean="0">
                <a:sym typeface="+mn-ea"/>
              </a:rPr>
              <a:t>第</a:t>
            </a:r>
            <a:r>
              <a:rPr lang="en-US" altLang="zh-CN" dirty="0" smtClean="0">
                <a:sym typeface="+mn-ea"/>
              </a:rPr>
              <a:t>6</a:t>
            </a:r>
            <a:r>
              <a:rPr lang="zh-CN" altLang="en-US" dirty="0" smtClean="0">
                <a:sym typeface="+mn-ea"/>
              </a:rPr>
              <a:t>周：孟子</a:t>
            </a:r>
            <a:endParaRPr lang="zh-CN" altLang="en-US" dirty="0" smtClean="0">
              <a:sym typeface="+mn-ea"/>
            </a:endParaRPr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 smtClean="0">
                <a:sym typeface="+mn-ea"/>
              </a:rPr>
              <a:t>第</a:t>
            </a:r>
            <a:r>
              <a:rPr lang="en-US" altLang="zh-CN" dirty="0" smtClean="0">
                <a:sym typeface="+mn-ea"/>
              </a:rPr>
              <a:t>7</a:t>
            </a:r>
            <a:r>
              <a:rPr lang="zh-CN" altLang="en-US" dirty="0" smtClean="0">
                <a:sym typeface="+mn-ea"/>
              </a:rPr>
              <a:t>周：庄子</a:t>
            </a:r>
            <a:endParaRPr lang="zh-CN" altLang="en-US" dirty="0" smtClean="0">
              <a:sym typeface="+mn-ea"/>
            </a:endParaRPr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 smtClean="0">
                <a:sym typeface="+mn-ea"/>
              </a:rPr>
              <a:t>第</a:t>
            </a:r>
            <a:r>
              <a:rPr lang="en-US" altLang="zh-CN" dirty="0" smtClean="0">
                <a:sym typeface="+mn-ea"/>
              </a:rPr>
              <a:t>8</a:t>
            </a:r>
            <a:r>
              <a:rPr lang="zh-CN" altLang="en-US" dirty="0" smtClean="0">
                <a:sym typeface="+mn-ea"/>
              </a:rPr>
              <a:t>周：惠施、公孙龙子</a:t>
            </a:r>
            <a:endParaRPr lang="zh-CN" altLang="en-US" dirty="0" smtClean="0">
              <a:sym typeface="+mn-ea"/>
            </a:endParaRPr>
          </a:p>
          <a:p>
            <a:pPr defTabSz="913765">
              <a:lnSpc>
                <a:spcPct val="150000"/>
              </a:lnSpc>
              <a:buSzPct val="25000"/>
              <a:defRPr/>
            </a:pPr>
            <a:endParaRPr lang="zh-CN" altLang="en-US" dirty="0" smtClean="0">
              <a:sym typeface="+mn-ea"/>
            </a:endParaRPr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 smtClean="0">
                <a:sym typeface="+mn-ea"/>
              </a:rPr>
              <a:t>第</a:t>
            </a:r>
            <a:r>
              <a:rPr lang="en-US" altLang="zh-CN" dirty="0" smtClean="0">
                <a:sym typeface="+mn-ea"/>
              </a:rPr>
              <a:t>9</a:t>
            </a:r>
            <a:r>
              <a:rPr lang="zh-CN" altLang="en-US" dirty="0" smtClean="0">
                <a:sym typeface="+mn-ea"/>
              </a:rPr>
              <a:t>周：期中考试</a:t>
            </a:r>
            <a:endParaRPr lang="zh-CN" altLang="en-US" dirty="0" smtClean="0">
              <a:sym typeface="+mn-ea"/>
            </a:endParaRPr>
          </a:p>
          <a:p>
            <a:pPr defTabSz="913765">
              <a:lnSpc>
                <a:spcPct val="150000"/>
              </a:lnSpc>
              <a:buSzPct val="25000"/>
              <a:defRPr/>
            </a:pP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iŝlîde"/>
          <p:cNvSpPr txBox="1"/>
          <p:nvPr/>
        </p:nvSpPr>
        <p:spPr>
          <a:xfrm>
            <a:off x="5902325" y="1390650"/>
            <a:ext cx="5314950" cy="465645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 smtClean="0">
                <a:sym typeface="+mn-ea"/>
              </a:rPr>
              <a:t>第</a:t>
            </a:r>
            <a:r>
              <a:rPr lang="en-US" altLang="zh-CN" dirty="0" smtClean="0">
                <a:sym typeface="+mn-ea"/>
              </a:rPr>
              <a:t>10</a:t>
            </a:r>
            <a:r>
              <a:rPr lang="zh-CN" altLang="en-US" dirty="0" smtClean="0">
                <a:sym typeface="+mn-ea"/>
              </a:rPr>
              <a:t>周：黄老学</a:t>
            </a:r>
            <a:endParaRPr lang="zh-CN" altLang="en-US" dirty="0" smtClean="0">
              <a:sym typeface="+mn-ea"/>
            </a:endParaRPr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 smtClean="0">
                <a:sym typeface="+mn-ea"/>
              </a:rPr>
              <a:t>第</a:t>
            </a:r>
            <a:r>
              <a:rPr lang="en-US" altLang="zh-CN" dirty="0" smtClean="0">
                <a:sym typeface="+mn-ea"/>
              </a:rPr>
              <a:t>11</a:t>
            </a:r>
            <a:r>
              <a:rPr lang="zh-CN" altLang="en-US" dirty="0" smtClean="0">
                <a:sym typeface="+mn-ea"/>
              </a:rPr>
              <a:t>周：荀子</a:t>
            </a:r>
            <a:endParaRPr lang="zh-CN" altLang="en-US" dirty="0" smtClean="0">
              <a:sym typeface="+mn-ea"/>
            </a:endParaRPr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 smtClean="0">
                <a:sym typeface="+mn-ea"/>
              </a:rPr>
              <a:t>第</a:t>
            </a:r>
            <a:r>
              <a:rPr lang="en-US" altLang="zh-CN" dirty="0" smtClean="0">
                <a:sym typeface="+mn-ea"/>
              </a:rPr>
              <a:t>12</a:t>
            </a:r>
            <a:r>
              <a:rPr lang="zh-CN" altLang="en-US" dirty="0" smtClean="0">
                <a:sym typeface="+mn-ea"/>
              </a:rPr>
              <a:t>周：韩非子</a:t>
            </a:r>
            <a:endParaRPr lang="zh-CN" altLang="en-US" dirty="0" smtClean="0">
              <a:sym typeface="+mn-ea"/>
            </a:endParaRPr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 smtClean="0">
                <a:sym typeface="+mn-ea"/>
              </a:rPr>
              <a:t>第</a:t>
            </a:r>
            <a:r>
              <a:rPr lang="en-US" altLang="zh-CN" dirty="0" smtClean="0">
                <a:sym typeface="+mn-ea"/>
              </a:rPr>
              <a:t>13</a:t>
            </a:r>
            <a:r>
              <a:rPr lang="zh-CN" altLang="en-US" dirty="0" smtClean="0">
                <a:sym typeface="+mn-ea"/>
              </a:rPr>
              <a:t>周：董仲舒</a:t>
            </a:r>
            <a:endParaRPr lang="zh-CN" altLang="en-US" dirty="0" smtClean="0">
              <a:sym typeface="+mn-ea"/>
            </a:endParaRPr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 smtClean="0">
                <a:sym typeface="+mn-ea"/>
              </a:rPr>
              <a:t>第</a:t>
            </a:r>
            <a:r>
              <a:rPr lang="en-US" altLang="zh-CN" dirty="0" smtClean="0">
                <a:sym typeface="+mn-ea"/>
              </a:rPr>
              <a:t>14</a:t>
            </a:r>
            <a:r>
              <a:rPr lang="zh-CN" altLang="en-US" dirty="0" smtClean="0">
                <a:sym typeface="+mn-ea"/>
              </a:rPr>
              <a:t>周：王弼</a:t>
            </a:r>
            <a:endParaRPr lang="zh-CN" altLang="en-US" dirty="0" smtClean="0">
              <a:sym typeface="+mn-ea"/>
            </a:endParaRPr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 smtClean="0">
                <a:sym typeface="+mn-ea"/>
              </a:rPr>
              <a:t>第</a:t>
            </a:r>
            <a:r>
              <a:rPr lang="en-US" altLang="zh-CN" dirty="0" smtClean="0">
                <a:sym typeface="+mn-ea"/>
              </a:rPr>
              <a:t>15</a:t>
            </a:r>
            <a:r>
              <a:rPr lang="zh-CN" altLang="en-US" dirty="0" smtClean="0">
                <a:sym typeface="+mn-ea"/>
              </a:rPr>
              <a:t>周：郭象</a:t>
            </a:r>
            <a:endParaRPr lang="zh-CN" altLang="en-US" dirty="0" smtClean="0">
              <a:sym typeface="+mn-ea"/>
            </a:endParaRPr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 smtClean="0">
                <a:sym typeface="+mn-ea"/>
              </a:rPr>
              <a:t>第</a:t>
            </a:r>
            <a:r>
              <a:rPr lang="en-US" altLang="zh-CN" dirty="0" smtClean="0">
                <a:sym typeface="+mn-ea"/>
              </a:rPr>
              <a:t>16</a:t>
            </a:r>
            <a:r>
              <a:rPr lang="zh-CN" altLang="en-US" dirty="0" smtClean="0">
                <a:sym typeface="+mn-ea"/>
              </a:rPr>
              <a:t>周：佛教与僧肇</a:t>
            </a:r>
            <a:endParaRPr lang="zh-CN" altLang="en-US" dirty="0" smtClean="0">
              <a:sym typeface="+mn-ea"/>
            </a:endParaRPr>
          </a:p>
          <a:p>
            <a:pPr defTabSz="913765">
              <a:lnSpc>
                <a:spcPct val="150000"/>
              </a:lnSpc>
              <a:buSzPct val="25000"/>
              <a:defRPr/>
            </a:pPr>
            <a:endParaRPr lang="zh-CN" altLang="en-US" dirty="0" smtClean="0">
              <a:sym typeface="+mn-ea"/>
            </a:endParaRPr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 smtClean="0">
                <a:sym typeface="+mn-ea"/>
              </a:rPr>
              <a:t>第</a:t>
            </a:r>
            <a:r>
              <a:rPr lang="en-US" altLang="zh-CN" dirty="0" smtClean="0">
                <a:sym typeface="+mn-ea"/>
              </a:rPr>
              <a:t>17/18</a:t>
            </a:r>
            <a:r>
              <a:rPr lang="zh-CN" altLang="en-US" dirty="0" smtClean="0">
                <a:sym typeface="+mn-ea"/>
              </a:rPr>
              <a:t>周：期末考试</a:t>
            </a:r>
            <a:endParaRPr lang="zh-CN" altLang="en-US" dirty="0" smtClean="0">
              <a:sym typeface="+mn-ea"/>
            </a:endParaRPr>
          </a:p>
          <a:p>
            <a:pPr defTabSz="913765">
              <a:lnSpc>
                <a:spcPct val="150000"/>
              </a:lnSpc>
              <a:buSzPct val="25000"/>
              <a:defRPr/>
            </a:pP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 smtClean="0">
                <a:sym typeface="+mn-lt"/>
              </a:rPr>
              <a:t>四、课程安排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0172701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6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0172701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6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0172701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0172701" y="1181099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6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0172701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0172701" y="1181099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6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10172701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6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10248901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0248901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69" name="iŝlîde"/>
          <p:cNvSpPr txBox="1"/>
          <p:nvPr/>
        </p:nvSpPr>
        <p:spPr>
          <a:xfrm>
            <a:off x="781050" y="1386205"/>
            <a:ext cx="10737850" cy="465645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dirty="0" smtClean="0">
                <a:sym typeface="+mn-ea"/>
              </a:rPr>
              <a:t>学分：</a:t>
            </a:r>
            <a:r>
              <a:rPr lang="en-US" altLang="zh-CN" dirty="0" smtClean="0">
                <a:sym typeface="+mn-ea"/>
              </a:rPr>
              <a:t>3</a:t>
            </a:r>
            <a:r>
              <a:rPr lang="zh-CN" altLang="en-US" dirty="0" smtClean="0">
                <a:sym typeface="+mn-ea"/>
              </a:rPr>
              <a:t>学分</a:t>
            </a:r>
            <a:r>
              <a:rPr lang="en-US" altLang="zh-CN" dirty="0" smtClean="0">
                <a:sym typeface="+mn-ea"/>
              </a:rPr>
              <a:t>/2</a:t>
            </a:r>
            <a:r>
              <a:rPr lang="zh-CN" altLang="en-US" dirty="0" smtClean="0">
                <a:sym typeface="+mn-ea"/>
              </a:rPr>
              <a:t>学分（根据所属专业培养方案要求进行选择）</a:t>
            </a:r>
            <a:endParaRPr lang="zh-CN" altLang="en-US" dirty="0" smtClean="0">
              <a:sym typeface="+mn-ea"/>
            </a:endParaRPr>
          </a:p>
          <a:p>
            <a:pPr defTabSz="913765">
              <a:lnSpc>
                <a:spcPct val="150000"/>
              </a:lnSpc>
              <a:buSzPct val="25000"/>
              <a:defRPr/>
            </a:pPr>
            <a:endParaRPr lang="en-US" altLang="zh-CN" dirty="0" smtClean="0">
              <a:sym typeface="+mn-ea"/>
            </a:endParaRPr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 smtClean="0">
                <a:sym typeface="+mn-ea"/>
              </a:rPr>
              <a:t>授课方式：</a:t>
            </a:r>
            <a:endParaRPr lang="zh-CN" altLang="en-US" dirty="0" smtClean="0">
              <a:sym typeface="+mn-ea"/>
            </a:endParaRPr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en-US" altLang="zh-CN" dirty="0" smtClean="0">
                <a:sym typeface="+mn-ea"/>
              </a:rPr>
              <a:t>3</a:t>
            </a:r>
            <a:r>
              <a:rPr lang="zh-CN" altLang="en-US" dirty="0" smtClean="0">
                <a:sym typeface="+mn-ea"/>
              </a:rPr>
              <a:t>学分：大班授课（每周</a:t>
            </a:r>
            <a:r>
              <a:rPr lang="en-US" altLang="zh-CN" dirty="0" smtClean="0">
                <a:sym typeface="+mn-ea"/>
              </a:rPr>
              <a:t>2</a:t>
            </a:r>
            <a:r>
              <a:rPr lang="zh-CN" altLang="en-US" dirty="0" smtClean="0">
                <a:sym typeface="+mn-ea"/>
              </a:rPr>
              <a:t>学时）</a:t>
            </a:r>
            <a:r>
              <a:rPr lang="en-US" altLang="zh-CN" dirty="0" smtClean="0">
                <a:sym typeface="+mn-ea"/>
              </a:rPr>
              <a:t>+</a:t>
            </a:r>
            <a:r>
              <a:rPr lang="zh-CN" altLang="en-US" dirty="0" smtClean="0">
                <a:sym typeface="+mn-ea"/>
              </a:rPr>
              <a:t>小班讨论（隔周</a:t>
            </a:r>
            <a:r>
              <a:rPr lang="en-US" altLang="zh-CN" dirty="0" smtClean="0">
                <a:sym typeface="+mn-ea"/>
              </a:rPr>
              <a:t>2</a:t>
            </a:r>
            <a:r>
              <a:rPr lang="zh-CN" altLang="en-US" dirty="0" smtClean="0">
                <a:sym typeface="+mn-ea"/>
              </a:rPr>
              <a:t>学时</a:t>
            </a:r>
            <a:r>
              <a:rPr lang="en-US" altLang="zh-CN" dirty="0" smtClean="0">
                <a:sym typeface="+mn-ea"/>
              </a:rPr>
              <a:t>/</a:t>
            </a:r>
            <a:r>
              <a:rPr lang="zh-CN" altLang="en-US" dirty="0" smtClean="0">
                <a:sym typeface="+mn-ea"/>
              </a:rPr>
              <a:t>共</a:t>
            </a:r>
            <a:r>
              <a:rPr lang="en-US" altLang="zh-CN" dirty="0" smtClean="0">
                <a:sym typeface="+mn-ea"/>
              </a:rPr>
              <a:t>7</a:t>
            </a:r>
            <a:r>
              <a:rPr lang="zh-CN" altLang="en-US" dirty="0" smtClean="0">
                <a:sym typeface="+mn-ea"/>
              </a:rPr>
              <a:t>次）</a:t>
            </a:r>
            <a:endParaRPr lang="zh-CN" altLang="en-US" dirty="0" smtClean="0">
              <a:sym typeface="+mn-ea"/>
            </a:endParaRPr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en-US" altLang="zh-CN" dirty="0" smtClean="0">
                <a:sym typeface="+mn-ea"/>
              </a:rPr>
              <a:t>2</a:t>
            </a:r>
            <a:r>
              <a:rPr lang="zh-CN" altLang="en-US" dirty="0" smtClean="0">
                <a:sym typeface="+mn-ea"/>
              </a:rPr>
              <a:t>学分：大班授课（每周</a:t>
            </a:r>
            <a:r>
              <a:rPr lang="en-US" altLang="zh-CN" dirty="0" smtClean="0">
                <a:sym typeface="+mn-ea"/>
              </a:rPr>
              <a:t>2</a:t>
            </a:r>
            <a:r>
              <a:rPr lang="zh-CN" altLang="en-US" dirty="0" smtClean="0">
                <a:sym typeface="+mn-ea"/>
              </a:rPr>
              <a:t>学时）</a:t>
            </a:r>
            <a:endParaRPr lang="zh-CN" altLang="en-US" dirty="0" smtClean="0">
              <a:sym typeface="+mn-ea"/>
            </a:endParaRPr>
          </a:p>
          <a:p>
            <a:pPr defTabSz="913765">
              <a:lnSpc>
                <a:spcPct val="150000"/>
              </a:lnSpc>
              <a:buSzPct val="25000"/>
              <a:defRPr/>
            </a:pPr>
            <a:endParaRPr lang="zh-CN" altLang="en-US" dirty="0" smtClean="0">
              <a:solidFill>
                <a:srgbClr val="FF0000"/>
              </a:solidFill>
              <a:sym typeface="+mn-ea"/>
            </a:endParaRPr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讨论班班次根据选课情况统一安排，每班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10-15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人，第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周在教学网公布分班名单</a:t>
            </a:r>
            <a:endParaRPr lang="zh-CN" altLang="en-US" dirty="0" smtClean="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 smtClean="0">
                <a:sym typeface="+mn-lt"/>
              </a:rPr>
              <a:t>四、课程安排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0172701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6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0172701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6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0172701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0172701" y="1181099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6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0172701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0172701" y="1181099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6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10172701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6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10248901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0248901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69" name="iŝlîde"/>
          <p:cNvSpPr txBox="1"/>
          <p:nvPr/>
        </p:nvSpPr>
        <p:spPr>
          <a:xfrm>
            <a:off x="781050" y="1386205"/>
            <a:ext cx="10737850" cy="465645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dirty="0" smtClean="0">
                <a:sym typeface="+mn-ea"/>
              </a:rPr>
              <a:t>学分：</a:t>
            </a:r>
            <a:r>
              <a:rPr lang="en-US" altLang="zh-CN" dirty="0" smtClean="0">
                <a:sym typeface="+mn-ea"/>
              </a:rPr>
              <a:t>3</a:t>
            </a:r>
            <a:r>
              <a:rPr lang="zh-CN" altLang="en-US" dirty="0" smtClean="0">
                <a:sym typeface="+mn-ea"/>
              </a:rPr>
              <a:t>学分</a:t>
            </a:r>
            <a:r>
              <a:rPr lang="en-US" altLang="zh-CN" dirty="0" smtClean="0">
                <a:sym typeface="+mn-ea"/>
              </a:rPr>
              <a:t>/2</a:t>
            </a:r>
            <a:r>
              <a:rPr lang="zh-CN" altLang="en-US" dirty="0" smtClean="0">
                <a:sym typeface="+mn-ea"/>
              </a:rPr>
              <a:t>学分（根据所属专业培养方案要求进行选择）</a:t>
            </a:r>
            <a:endParaRPr lang="zh-CN" altLang="en-US" dirty="0" smtClean="0">
              <a:sym typeface="+mn-ea"/>
            </a:endParaRPr>
          </a:p>
          <a:p>
            <a:pPr defTabSz="913765">
              <a:lnSpc>
                <a:spcPct val="150000"/>
              </a:lnSpc>
              <a:buSzPct val="25000"/>
              <a:defRPr/>
            </a:pPr>
            <a:endParaRPr lang="en-US" altLang="zh-CN" dirty="0" smtClean="0">
              <a:sym typeface="+mn-ea"/>
            </a:endParaRPr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 smtClean="0">
                <a:sym typeface="+mn-ea"/>
              </a:rPr>
              <a:t>考核方式：</a:t>
            </a:r>
            <a:endParaRPr lang="zh-CN" altLang="en-US" dirty="0" smtClean="0">
              <a:sym typeface="+mn-ea"/>
            </a:endParaRPr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en-US" altLang="zh-CN" dirty="0" smtClean="0">
                <a:sym typeface="+mn-ea"/>
              </a:rPr>
              <a:t>3</a:t>
            </a:r>
            <a:r>
              <a:rPr lang="zh-CN" altLang="en-US" dirty="0" smtClean="0">
                <a:sym typeface="+mn-ea"/>
              </a:rPr>
              <a:t>学分：讨论课成绩（</a:t>
            </a:r>
            <a:r>
              <a:rPr lang="en-US" altLang="zh-CN" dirty="0" smtClean="0">
                <a:sym typeface="+mn-ea"/>
              </a:rPr>
              <a:t>30%</a:t>
            </a:r>
            <a:r>
              <a:rPr lang="zh-CN" altLang="en-US" dirty="0" smtClean="0">
                <a:sym typeface="+mn-ea"/>
              </a:rPr>
              <a:t>）</a:t>
            </a:r>
            <a:r>
              <a:rPr lang="en-US" altLang="zh-CN" dirty="0" smtClean="0">
                <a:sym typeface="+mn-ea"/>
              </a:rPr>
              <a:t>+</a:t>
            </a:r>
            <a:r>
              <a:rPr lang="zh-CN" altLang="en-US" dirty="0" smtClean="0">
                <a:sym typeface="+mn-ea"/>
              </a:rPr>
              <a:t>期中成绩（</a:t>
            </a:r>
            <a:r>
              <a:rPr lang="en-US" altLang="zh-CN" dirty="0" smtClean="0">
                <a:sym typeface="+mn-ea"/>
              </a:rPr>
              <a:t>30%</a:t>
            </a:r>
            <a:r>
              <a:rPr lang="zh-CN" altLang="en-US" dirty="0" smtClean="0">
                <a:sym typeface="+mn-ea"/>
              </a:rPr>
              <a:t>）</a:t>
            </a:r>
            <a:r>
              <a:rPr lang="en-US" altLang="zh-CN" dirty="0" smtClean="0">
                <a:sym typeface="+mn-ea"/>
              </a:rPr>
              <a:t>+</a:t>
            </a:r>
            <a:r>
              <a:rPr lang="zh-CN" altLang="en-US" dirty="0" smtClean="0">
                <a:sym typeface="+mn-ea"/>
              </a:rPr>
              <a:t>期末成绩（</a:t>
            </a:r>
            <a:r>
              <a:rPr lang="en-US" altLang="zh-CN" dirty="0" smtClean="0">
                <a:sym typeface="+mn-ea"/>
              </a:rPr>
              <a:t>40%</a:t>
            </a:r>
            <a:r>
              <a:rPr lang="zh-CN" altLang="en-US" dirty="0" smtClean="0">
                <a:sym typeface="+mn-ea"/>
              </a:rPr>
              <a:t>）</a:t>
            </a:r>
            <a:endParaRPr lang="zh-CN" altLang="en-US" dirty="0" smtClean="0">
              <a:sym typeface="+mn-ea"/>
            </a:endParaRPr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en-US" altLang="zh-CN" dirty="0" smtClean="0">
                <a:sym typeface="+mn-ea"/>
              </a:rPr>
              <a:t>2</a:t>
            </a:r>
            <a:r>
              <a:rPr lang="zh-CN" altLang="en-US" dirty="0" smtClean="0">
                <a:sym typeface="+mn-ea"/>
              </a:rPr>
              <a:t>学分：</a:t>
            </a:r>
            <a:r>
              <a:rPr lang="zh-CN" altLang="en-US" dirty="0" smtClean="0">
                <a:sym typeface="+mn-ea"/>
              </a:rPr>
              <a:t>期中成绩（</a:t>
            </a:r>
            <a:r>
              <a:rPr lang="en-US" altLang="zh-CN" dirty="0" smtClean="0">
                <a:sym typeface="+mn-ea"/>
              </a:rPr>
              <a:t>40%</a:t>
            </a:r>
            <a:r>
              <a:rPr lang="zh-CN" altLang="en-US" dirty="0" smtClean="0">
                <a:sym typeface="+mn-ea"/>
              </a:rPr>
              <a:t>）</a:t>
            </a:r>
            <a:r>
              <a:rPr lang="en-US" altLang="zh-CN" dirty="0" smtClean="0">
                <a:sym typeface="+mn-ea"/>
              </a:rPr>
              <a:t>+</a:t>
            </a:r>
            <a:r>
              <a:rPr lang="zh-CN" altLang="en-US" dirty="0" smtClean="0">
                <a:sym typeface="+mn-ea"/>
              </a:rPr>
              <a:t>期末成绩（</a:t>
            </a:r>
            <a:r>
              <a:rPr lang="en-US" altLang="zh-CN" dirty="0" smtClean="0">
                <a:sym typeface="+mn-ea"/>
              </a:rPr>
              <a:t>60%</a:t>
            </a:r>
            <a:r>
              <a:rPr lang="zh-CN" altLang="en-US" dirty="0" smtClean="0">
                <a:sym typeface="+mn-ea"/>
              </a:rPr>
              <a:t>）</a:t>
            </a:r>
            <a:endParaRPr lang="zh-CN" altLang="en-US" dirty="0" smtClean="0">
              <a:sym typeface="+mn-ea"/>
            </a:endParaRPr>
          </a:p>
          <a:p>
            <a:pPr defTabSz="913765">
              <a:lnSpc>
                <a:spcPct val="150000"/>
              </a:lnSpc>
              <a:buSzPct val="25000"/>
              <a:defRPr/>
            </a:pPr>
            <a:endParaRPr lang="en-US" altLang="zh-CN" dirty="0" smtClean="0">
              <a:solidFill>
                <a:schemeClr val="tx1"/>
              </a:solidFill>
              <a:sym typeface="+mn-ea"/>
            </a:endParaRPr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 smtClean="0">
                <a:solidFill>
                  <a:schemeClr val="tx1"/>
                </a:solidFill>
                <a:sym typeface="+mn-ea"/>
              </a:rPr>
              <a:t>期中考试：开卷（熟悉题型）</a:t>
            </a:r>
            <a:endParaRPr lang="zh-CN" altLang="en-US" dirty="0" smtClean="0">
              <a:solidFill>
                <a:schemeClr val="tx1"/>
              </a:solidFill>
              <a:sym typeface="+mn-ea"/>
            </a:endParaRPr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 smtClean="0">
                <a:solidFill>
                  <a:schemeClr val="tx1"/>
                </a:solidFill>
                <a:sym typeface="+mn-ea"/>
              </a:rPr>
              <a:t>期末考试：闭卷</a:t>
            </a:r>
            <a:endParaRPr lang="zh-CN" altLang="en-US" dirty="0" smtClean="0">
              <a:solidFill>
                <a:schemeClr val="tx1"/>
              </a:solidFill>
              <a:sym typeface="+mn-ea"/>
            </a:endParaRPr>
          </a:p>
          <a:p>
            <a:pPr defTabSz="913765">
              <a:lnSpc>
                <a:spcPct val="150000"/>
              </a:lnSpc>
              <a:buSzPct val="25000"/>
              <a:defRPr/>
            </a:pPr>
            <a:r>
              <a:rPr lang="zh-CN" altLang="en-US" dirty="0" smtClean="0">
                <a:solidFill>
                  <a:schemeClr val="tx1"/>
                </a:solidFill>
                <a:sym typeface="+mn-ea"/>
              </a:rPr>
              <a:t>试题题型：名词解释</a:t>
            </a:r>
            <a:r>
              <a:rPr lang="en-US" altLang="zh-CN" dirty="0" smtClean="0">
                <a:solidFill>
                  <a:schemeClr val="tx1"/>
                </a:solidFill>
                <a:sym typeface="+mn-ea"/>
              </a:rPr>
              <a:t>+</a:t>
            </a:r>
            <a:r>
              <a:rPr lang="zh-CN" altLang="en-US" dirty="0" smtClean="0">
                <a:solidFill>
                  <a:schemeClr val="tx1"/>
                </a:solidFill>
                <a:sym typeface="+mn-ea"/>
              </a:rPr>
              <a:t>简答</a:t>
            </a:r>
            <a:r>
              <a:rPr lang="en-US" altLang="zh-CN" dirty="0" smtClean="0">
                <a:solidFill>
                  <a:schemeClr val="tx1"/>
                </a:solidFill>
                <a:sym typeface="+mn-ea"/>
              </a:rPr>
              <a:t>+</a:t>
            </a:r>
            <a:r>
              <a:rPr lang="zh-CN" altLang="en-US" dirty="0" smtClean="0">
                <a:solidFill>
                  <a:schemeClr val="tx1"/>
                </a:solidFill>
                <a:sym typeface="+mn-ea"/>
              </a:rPr>
              <a:t>论述</a:t>
            </a:r>
            <a:endParaRPr lang="zh-CN" altLang="en-US" dirty="0" smtClean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8300" y="1956773"/>
            <a:ext cx="8902700" cy="1371600"/>
          </a:xfrm>
        </p:spPr>
        <p:txBody>
          <a:bodyPr>
            <a:normAutofit/>
          </a:bodyPr>
          <a:lstStyle/>
          <a:p>
            <a:pPr lvl="0"/>
            <a:r>
              <a:rPr lang="zh-CN" altLang="en-US" sz="3200" dirty="0" smtClean="0"/>
              <a:t>五、礼乐文明与前诸子时代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sym typeface="+mn-ea"/>
              </a:rPr>
              <a:t>五、礼乐文明与前诸子时代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1" y="1304925"/>
            <a:ext cx="10858499" cy="5104765"/>
            <a:chOff x="673101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4397615" y="1123951"/>
              <a:ext cx="7434729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1" y="1123952"/>
              <a:ext cx="3724514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>
                  <a:sym typeface="+mn-ea"/>
                </a:rPr>
                <a:t>中国哲学史的分期与阶段</a:t>
              </a:r>
              <a:endParaRPr lang="zh-CN" dirty="0">
                <a:sym typeface="+mn-ea"/>
              </a:endParaRPr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4693037" y="1322504"/>
              <a:ext cx="6844228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dirty="0">
                  <a:solidFill>
                    <a:schemeClr val="bg1"/>
                  </a:solidFill>
                  <a:sym typeface="+mn-ea"/>
                </a:rPr>
                <a:t>通常的分期：</a:t>
              </a:r>
              <a:endParaRPr lang="zh-CN" dirty="0">
                <a:solidFill>
                  <a:schemeClr val="bg1"/>
                </a:solidFill>
                <a:sym typeface="+mn-ea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先秦诸子学、两汉经学、魏晋玄学、南北朝隋唐佛学、宋明理学、清代及近代哲学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>
                <a:lnSpc>
                  <a:spcPct val="150000"/>
                </a:lnSpc>
              </a:pP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《中国哲学》（上）：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先秦</a:t>
              </a:r>
              <a:r>
                <a:rPr lang="en-US" altLang="zh-CN" dirty="0">
                  <a:solidFill>
                    <a:schemeClr val="bg1"/>
                  </a:solidFill>
                  <a:sym typeface="+mn-ea"/>
                </a:rPr>
                <a:t>——</a:t>
              </a: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魏晋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sym typeface="+mn-ea"/>
              </a:rPr>
              <a:t>五、礼乐文明与前诸子时代</a:t>
            </a:r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0172701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6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0172701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6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0172701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0172701" y="1181099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6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0172701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0172701" y="1181099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6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10172701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6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10248901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0248901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399" y="1181099"/>
            <a:ext cx="10858499" cy="5257800"/>
            <a:chOff x="673100" y="1123951"/>
            <a:chExt cx="11159244" cy="5734050"/>
          </a:xfrm>
        </p:grpSpPr>
        <p:sp>
          <p:nvSpPr>
            <p:cNvPr id="59" name="îṧļîďè"/>
            <p:cNvSpPr/>
            <p:nvPr/>
          </p:nvSpPr>
          <p:spPr>
            <a:xfrm>
              <a:off x="6928570" y="1123951"/>
              <a:ext cx="4903774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0" y="1123951"/>
              <a:ext cx="1960373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 smtClean="0"/>
                <a:t>礼乐文明的奠基</a:t>
              </a:r>
              <a:endParaRPr lang="zh-CN" altLang="en-US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7140242" y="1331708"/>
              <a:ext cx="4397027" cy="5290394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bg1"/>
                  </a:solidFill>
                </a:rPr>
                <a:t>早期形态</a:t>
              </a:r>
              <a:endParaRPr lang="en-US" altLang="zh-CN" sz="1600" dirty="0">
                <a:solidFill>
                  <a:schemeClr val="bg1"/>
                </a:solidFill>
              </a:endParaRPr>
            </a:p>
            <a:p>
              <a:pPr>
                <a:lnSpc>
                  <a:spcPct val="150000"/>
                </a:lnSpc>
              </a:pPr>
              <a:endParaRPr lang="en-US" altLang="zh-CN" sz="1600" dirty="0">
                <a:solidFill>
                  <a:schemeClr val="bg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bg1"/>
                  </a:solidFill>
                </a:rPr>
                <a:t>天的内涵：人格化的主宰</a:t>
              </a:r>
              <a:endParaRPr lang="zh-CN" altLang="en-US" sz="1600" dirty="0">
                <a:solidFill>
                  <a:schemeClr val="bg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bg1"/>
                  </a:solidFill>
                </a:rPr>
                <a:t>                  多称天命、帝命</a:t>
              </a:r>
              <a:endParaRPr lang="zh-CN" altLang="en-US" sz="1600" dirty="0">
                <a:solidFill>
                  <a:schemeClr val="bg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bg1"/>
                  </a:solidFill>
                </a:rPr>
                <a:t>天的影响：赐予或剥夺王权与相应的福禄</a:t>
              </a:r>
              <a:endParaRPr lang="zh-CN" altLang="en-US" sz="1600" dirty="0">
                <a:solidFill>
                  <a:schemeClr val="bg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bg1"/>
                  </a:solidFill>
                </a:rPr>
                <a:t>天的规则：以德配天</a:t>
              </a:r>
              <a:endParaRPr lang="zh-CN" altLang="en-US" sz="16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600" y="1181098"/>
            <a:ext cx="8397105" cy="528255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sym typeface="+mn-ea"/>
              </a:rPr>
              <a:t>五、礼乐文明与前诸子时代</a:t>
            </a:r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0172701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6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0172701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6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0172701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0172701" y="1181099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6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0172701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0172701" y="1181099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6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10172701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6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10248901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0248901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0" y="1181100"/>
            <a:ext cx="10858500" cy="5257800"/>
            <a:chOff x="673101" y="1123952"/>
            <a:chExt cx="11478625" cy="5734050"/>
          </a:xfrm>
        </p:grpSpPr>
        <p:sp>
          <p:nvSpPr>
            <p:cNvPr id="59" name="îṧļîďè"/>
            <p:cNvSpPr/>
            <p:nvPr/>
          </p:nvSpPr>
          <p:spPr>
            <a:xfrm>
              <a:off x="3983620" y="1123952"/>
              <a:ext cx="8168106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1" y="1123952"/>
              <a:ext cx="3215752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/>
                <a:t>制礼作乐</a:t>
              </a:r>
              <a:endParaRPr lang="zh-CN" altLang="en-US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4154197" y="1345779"/>
              <a:ext cx="7818261" cy="5290395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dirty="0" smtClean="0">
                  <a:solidFill>
                    <a:schemeClr val="bg1"/>
                  </a:solidFill>
                </a:rPr>
                <a:t>《</a:t>
              </a:r>
              <a:r>
                <a:rPr lang="zh-CN" altLang="en-US" dirty="0">
                  <a:solidFill>
                    <a:schemeClr val="bg1"/>
                  </a:solidFill>
                </a:rPr>
                <a:t>礼记</a:t>
              </a:r>
              <a:r>
                <a:rPr lang="en-US" altLang="zh-CN" dirty="0" smtClean="0">
                  <a:solidFill>
                    <a:schemeClr val="bg1"/>
                  </a:solidFill>
                </a:rPr>
                <a:t>·</a:t>
              </a:r>
              <a:r>
                <a:rPr lang="zh-CN" altLang="en-US" dirty="0" smtClean="0">
                  <a:solidFill>
                    <a:schemeClr val="bg1"/>
                  </a:solidFill>
                </a:rPr>
                <a:t>明堂位</a:t>
              </a:r>
              <a:r>
                <a:rPr lang="en-US" altLang="zh-CN" dirty="0" smtClean="0">
                  <a:solidFill>
                    <a:schemeClr val="bg1"/>
                  </a:solidFill>
                </a:rPr>
                <a:t>》</a:t>
              </a:r>
              <a:r>
                <a:rPr lang="zh-CN" altLang="en-US" dirty="0">
                  <a:solidFill>
                    <a:schemeClr val="bg1"/>
                  </a:solidFill>
                </a:rPr>
                <a:t>：</a:t>
              </a:r>
              <a:endParaRPr lang="zh-CN" altLang="en-US" dirty="0">
                <a:solidFill>
                  <a:schemeClr val="bg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bg1"/>
                  </a:solidFill>
                </a:rPr>
                <a:t>武王崩，成王幼弱，周公践天子之位，以治天下。六年，朝诸侯于明堂，制礼作乐，颁度量，而天下大服。七年，致政于成王。成王以周公为有勋劳于天下，是以封周公于曲阜，地方七百里，革车千乘，命鲁公世世祀周公以天子之礼乐。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sym typeface="+mn-ea"/>
              </a:rPr>
              <a:t>五、礼乐文明与前诸子时代</a:t>
            </a:r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0172701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6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0172701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6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0172701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0172701" y="1181099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6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0172701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0172701" y="1181099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6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10172701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6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10248901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0248901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399" y="1181099"/>
            <a:ext cx="10858498" cy="5257801"/>
            <a:chOff x="673100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8119716" y="1123951"/>
              <a:ext cx="3712627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0" y="1123952"/>
              <a:ext cx="6255468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/>
                <a:t>礼的内容</a:t>
              </a:r>
              <a:endParaRPr lang="zh-CN" altLang="en-US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zh-CN" altLang="en-US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/>
                <a:t>礼书：</a:t>
              </a:r>
              <a:r>
                <a:rPr lang="en-US" altLang="zh-CN" dirty="0"/>
                <a:t>《</a:t>
              </a:r>
              <a:r>
                <a:rPr lang="zh-CN" altLang="en-US" dirty="0"/>
                <a:t>仪礼</a:t>
              </a:r>
              <a:r>
                <a:rPr lang="en-US" altLang="zh-CN" dirty="0"/>
                <a:t>》</a:t>
              </a:r>
              <a:r>
                <a:rPr lang="zh-CN" altLang="en-US" dirty="0"/>
                <a:t>、</a:t>
              </a:r>
              <a:r>
                <a:rPr lang="en-US" altLang="zh-CN" dirty="0"/>
                <a:t>《</a:t>
              </a:r>
              <a:r>
                <a:rPr lang="zh-CN" altLang="en-US" dirty="0"/>
                <a:t>周礼</a:t>
              </a:r>
              <a:r>
                <a:rPr lang="en-US" altLang="zh-CN" dirty="0"/>
                <a:t>》</a:t>
              </a:r>
              <a:r>
                <a:rPr lang="zh-CN" altLang="en-US" dirty="0"/>
                <a:t>、</a:t>
              </a:r>
              <a:r>
                <a:rPr lang="en-US" altLang="zh-CN" dirty="0"/>
                <a:t>《</a:t>
              </a:r>
              <a:r>
                <a:rPr lang="zh-CN" altLang="en-US" dirty="0"/>
                <a:t>礼记</a:t>
              </a:r>
              <a:r>
                <a:rPr lang="en-US" altLang="zh-CN" dirty="0"/>
                <a:t>》</a:t>
              </a:r>
              <a:endParaRPr lang="en-US" altLang="zh-CN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en-US" altLang="zh-CN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/>
                <a:t>名物：衣服、饮食、宫室、车马、武备、旗帜、玉瑞、乐舞、丧葬</a:t>
              </a:r>
              <a:endParaRPr lang="zh-CN" altLang="en-US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en-US" altLang="zh-CN" dirty="0" smtClean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 smtClean="0"/>
                <a:t>制度</a:t>
              </a:r>
              <a:r>
                <a:rPr lang="zh-CN" altLang="en-US" dirty="0"/>
                <a:t>：官制、田制、军制、学制、刑制、宗法、祭祀</a:t>
              </a:r>
              <a:endParaRPr lang="zh-CN" altLang="en-US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en-US" altLang="zh-CN" dirty="0" smtClean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 smtClean="0"/>
                <a:t>礼仪</a:t>
              </a:r>
              <a:r>
                <a:rPr lang="zh-CN" altLang="en-US" dirty="0"/>
                <a:t>：冠礼、婚礼、丧礼、祭礼等</a:t>
              </a:r>
              <a:endParaRPr lang="zh-CN" altLang="en-US" dirty="0"/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2436" y="1155294"/>
            <a:ext cx="3699165" cy="529265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sym typeface="+mn-ea"/>
              </a:rPr>
              <a:t>五、礼乐文明与前诸子时代</a:t>
            </a:r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0172701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6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0172701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6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0172701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0172701" y="1181099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6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0172701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0172701" y="1181099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6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10172701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6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10248901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0248901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399" y="1181099"/>
            <a:ext cx="10858500" cy="5257801"/>
            <a:chOff x="673100" y="1123951"/>
            <a:chExt cx="11159245" cy="5734051"/>
          </a:xfrm>
        </p:grpSpPr>
        <p:sp>
          <p:nvSpPr>
            <p:cNvPr id="59" name="îṧļîďè"/>
            <p:cNvSpPr/>
            <p:nvPr/>
          </p:nvSpPr>
          <p:spPr>
            <a:xfrm>
              <a:off x="3541416" y="1123951"/>
              <a:ext cx="8290929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0" y="1123952"/>
              <a:ext cx="2251043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 smtClean="0"/>
                <a:t>德与礼</a:t>
              </a:r>
              <a:endParaRPr lang="zh-CN" altLang="en-US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3799379" y="1321930"/>
              <a:ext cx="7737890" cy="5290394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chemeClr val="bg1"/>
                  </a:solidFill>
                </a:rPr>
                <a:t>《</a:t>
              </a:r>
              <a:r>
                <a:rPr lang="zh-CN" altLang="en-US" dirty="0">
                  <a:solidFill>
                    <a:schemeClr val="bg1"/>
                  </a:solidFill>
                </a:rPr>
                <a:t>左传</a:t>
              </a:r>
              <a:r>
                <a:rPr lang="en-US" altLang="zh-CN" dirty="0">
                  <a:solidFill>
                    <a:schemeClr val="bg1"/>
                  </a:solidFill>
                </a:rPr>
                <a:t>·</a:t>
              </a:r>
              <a:r>
                <a:rPr lang="zh-CN" altLang="en-US" dirty="0">
                  <a:solidFill>
                    <a:schemeClr val="bg1"/>
                  </a:solidFill>
                </a:rPr>
                <a:t>文公十八年</a:t>
              </a:r>
              <a:r>
                <a:rPr lang="en-US" altLang="zh-CN" dirty="0">
                  <a:solidFill>
                    <a:schemeClr val="bg1"/>
                  </a:solidFill>
                </a:rPr>
                <a:t>》</a:t>
              </a:r>
              <a:r>
                <a:rPr lang="zh-CN" altLang="en-US" dirty="0">
                  <a:solidFill>
                    <a:schemeClr val="bg1"/>
                  </a:solidFill>
                </a:rPr>
                <a:t>季文子使大史克答宣公：</a:t>
              </a:r>
              <a:endParaRPr lang="zh-CN" altLang="en-US" dirty="0">
                <a:solidFill>
                  <a:schemeClr val="bg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bg1"/>
                  </a:solidFill>
                </a:rPr>
                <a:t>先君周公制周礼曰：“则以观德，德以处事，事以度功，功以食民。”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五、礼乐文明与前诸子时代</a:t>
            </a:r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0172701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6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0172701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6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0172701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0172701" y="1181099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6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0172701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0172701" y="1181099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6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10172701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6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10248901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0248901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399" y="1181099"/>
            <a:ext cx="10858499" cy="5257801"/>
            <a:chOff x="673100" y="1123951"/>
            <a:chExt cx="11159244" cy="5734051"/>
          </a:xfrm>
        </p:grpSpPr>
        <p:sp>
          <p:nvSpPr>
            <p:cNvPr id="59" name="îṧļîďè"/>
            <p:cNvSpPr/>
            <p:nvPr/>
          </p:nvSpPr>
          <p:spPr>
            <a:xfrm>
              <a:off x="4210097" y="1123951"/>
              <a:ext cx="7622247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0" y="1123952"/>
              <a:ext cx="2251043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 smtClean="0"/>
                <a:t>德与礼</a:t>
              </a:r>
              <a:endParaRPr lang="zh-CN" altLang="en-US" dirty="0"/>
            </a:p>
          </p:txBody>
        </p:sp>
      </p:grpSp>
      <p:pic>
        <p:nvPicPr>
          <p:cNvPr id="27" name="图片 26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11040" y="0"/>
            <a:ext cx="7416824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ISLIDE.THEME" val="https://www.islide.cc;"/>
</p:tagLst>
</file>

<file path=ppt/tags/tag2.xml><?xml version="1.0" encoding="utf-8"?>
<p:tagLst xmlns:p="http://schemas.openxmlformats.org/presentationml/2006/main">
  <p:tag name="ISLIDE.THEME" val="https://www.islide.cc;"/>
</p:tagLst>
</file>

<file path=ppt/tags/tag3.xml><?xml version="1.0" encoding="utf-8"?>
<p:tagLst xmlns:p="http://schemas.openxmlformats.org/presentationml/2006/main">
  <p:tag name="ISLIDE.THEME" val="https://www.islide.cc;"/>
</p:tagLst>
</file>

<file path=ppt/tags/tag4.xml><?xml version="1.0" encoding="utf-8"?>
<p:tagLst xmlns:p="http://schemas.openxmlformats.org/presentationml/2006/main">
  <p:tag name="ISLIDE.DIAGRAM" val="4318"/>
</p:tagLst>
</file>

<file path=ppt/tags/tag5.xml><?xml version="1.0" encoding="utf-8"?>
<p:tagLst xmlns:p="http://schemas.openxmlformats.org/presentationml/2006/main">
  <p:tag name="ISLIDE.DIAGRAM" val="4318"/>
</p:tagLst>
</file>

<file path=ppt/tags/tag6.xml><?xml version="1.0" encoding="utf-8"?>
<p:tagLst xmlns:p="http://schemas.openxmlformats.org/presentationml/2006/main">
  <p:tag name="ISLIDE.DIAGRAM" val="4318"/>
</p:tagLst>
</file>

<file path=ppt/tags/tag7.xml><?xml version="1.0" encoding="utf-8"?>
<p:tagLst xmlns:p="http://schemas.openxmlformats.org/presentationml/2006/main">
  <p:tag name="ISLIDE.DIAGRAM" val="4318"/>
</p:tagLst>
</file>

<file path=ppt/tags/tag8.xml><?xml version="1.0" encoding="utf-8"?>
<p:tagLst xmlns:p="http://schemas.openxmlformats.org/presentationml/2006/main">
  <p:tag name="ISLIDE.THEME" val="https://www.islide.cc;"/>
</p:tagLst>
</file>

<file path=ppt/tags/tag9.xml><?xml version="1.0" encoding="utf-8"?>
<p:tagLst xmlns:p="http://schemas.openxmlformats.org/presentationml/2006/main">
  <p:tag name="ISLIDE.THEME" val="https://www.islide.cc;"/>
</p:tagLst>
</file>

<file path=ppt/tags/tag10.xml><?xml version="1.0" encoding="utf-8"?>
<p:tagLst xmlns:p="http://schemas.openxmlformats.org/presentationml/2006/main">
  <p:tag name="ISLIDE.THEME" val="https://www.islide.cc;"/>
</p:tagLst>
</file>

<file path=ppt/tags/tag11.xml><?xml version="1.0" encoding="utf-8"?>
<p:tagLst xmlns:p="http://schemas.openxmlformats.org/presentationml/2006/main">
  <p:tag name="ISLIDE.THEME" val="https://www.islide.cc;"/>
</p:tagLst>
</file>

<file path=ppt/tags/tag12.xml><?xml version="1.0" encoding="utf-8"?>
<p:tagLst xmlns:p="http://schemas.openxmlformats.org/presentationml/2006/main">
  <p:tag name="ISLIDE.DIAGRAM" val="4318"/>
</p:tagLst>
</file>

<file path=ppt/tags/tag13.xml><?xml version="1.0" encoding="utf-8"?>
<p:tagLst xmlns:p="http://schemas.openxmlformats.org/presentationml/2006/main">
  <p:tag name="ISLIDE.DIAGRAM" val="4318"/>
</p:tagLst>
</file>

<file path=ppt/tags/tag14.xml><?xml version="1.0" encoding="utf-8"?>
<p:tagLst xmlns:p="http://schemas.openxmlformats.org/presentationml/2006/main">
  <p:tag name="ISLIDE.DIAGRAM" val="4318"/>
</p:tagLst>
</file>

<file path=ppt/tags/tag15.xml><?xml version="1.0" encoding="utf-8"?>
<p:tagLst xmlns:p="http://schemas.openxmlformats.org/presentationml/2006/main">
  <p:tag name="ISLIDE.DIAGRAM" val="4318"/>
</p:tagLst>
</file>

<file path=ppt/tags/tag16.xml><?xml version="1.0" encoding="utf-8"?>
<p:tagLst xmlns:p="http://schemas.openxmlformats.org/presentationml/2006/main">
  <p:tag name="ISLIDE.DIAGRAM" val="4318"/>
</p:tagLst>
</file>

<file path=ppt/tags/tag17.xml><?xml version="1.0" encoding="utf-8"?>
<p:tagLst xmlns:p="http://schemas.openxmlformats.org/presentationml/2006/main">
  <p:tag name="ISLIDE.DIAGRAM" val="4318"/>
</p:tagLst>
</file>

<file path=ppt/tags/tag18.xml><?xml version="1.0" encoding="utf-8"?>
<p:tagLst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  <p:tag name="ISLIDE.THEME" val="#935486"/>
  <p:tag name="commondata" val="eyJoZGlkIjoiYjU4MmJkNDBiNTI5Njk5MzUyMmUzNDc3ZmZjYzczM2MifQ=="/>
</p:tagLst>
</file>

<file path=ppt/theme/theme1.xml><?xml version="1.0" encoding="utf-8"?>
<a:theme xmlns:a="http://schemas.openxmlformats.org/drawingml/2006/main" name="Designed by iSlide">
  <a:themeElements>
    <a:clrScheme name="iSlide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5D99A7"/>
      </a:accent1>
      <a:accent2>
        <a:srgbClr val="E5B952"/>
      </a:accent2>
      <a:accent3>
        <a:srgbClr val="C6CBCC"/>
      </a:accent3>
      <a:accent4>
        <a:srgbClr val="ADB0B1"/>
      </a:accent4>
      <a:accent5>
        <a:srgbClr val="8E9090"/>
      </a:accent5>
      <a:accent6>
        <a:srgbClr val="787B7B"/>
      </a:accent6>
      <a:hlink>
        <a:srgbClr val="F84D4D"/>
      </a:hlink>
      <a:folHlink>
        <a:srgbClr val="979797"/>
      </a:folHlink>
    </a:clrScheme>
    <a:fontScheme name="iSlid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 Presentation Template</Template>
  <TotalTime>0</TotalTime>
  <Words>3787</Words>
  <Application>WPS 演示</Application>
  <PresentationFormat>宽屏</PresentationFormat>
  <Paragraphs>319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7" baseType="lpstr">
      <vt:lpstr>Arial</vt:lpstr>
      <vt:lpstr>宋体</vt:lpstr>
      <vt:lpstr>Wingdings</vt:lpstr>
      <vt:lpstr>微软雅黑</vt:lpstr>
      <vt:lpstr>FZQingKeBenYueSongS-R-GB</vt:lpstr>
      <vt:lpstr>Arial Unicode MS</vt:lpstr>
      <vt:lpstr>等线</vt:lpstr>
      <vt:lpstr>Designed by iSlide</vt:lpstr>
      <vt:lpstr>中国哲学（上）</vt:lpstr>
      <vt:lpstr>引  言</vt:lpstr>
      <vt:lpstr>一、中国哲学的内容</vt:lpstr>
      <vt:lpstr>一、中国哲学的内容</vt:lpstr>
      <vt:lpstr>一、中国哲学的内容</vt:lpstr>
      <vt:lpstr>一、中国哲学的内容</vt:lpstr>
      <vt:lpstr>一、中国哲学的内容</vt:lpstr>
      <vt:lpstr>一、中国哲学的内容</vt:lpstr>
      <vt:lpstr>一、中国哲学的内容</vt:lpstr>
      <vt:lpstr>二、中国哲学与中国哲学史</vt:lpstr>
      <vt:lpstr>二、中国哲学与中国哲学史</vt:lpstr>
      <vt:lpstr>二、中国哲学与中国哲学史</vt:lpstr>
      <vt:lpstr>二、中国哲学与中国哲学史</vt:lpstr>
      <vt:lpstr>三、中国哲学史的研究方法</vt:lpstr>
      <vt:lpstr>三、中国哲学史的研究方法</vt:lpstr>
      <vt:lpstr>三、中国哲学史的研究方法</vt:lpstr>
      <vt:lpstr>三、中国哲学史的研究方法</vt:lpstr>
      <vt:lpstr>三、中国哲学史的研究方法</vt:lpstr>
      <vt:lpstr>四、课程安排</vt:lpstr>
      <vt:lpstr>四、课程安排</vt:lpstr>
      <vt:lpstr>四、课程安排</vt:lpstr>
      <vt:lpstr>四、课程安排</vt:lpstr>
      <vt:lpstr>五、礼乐文明与前诸子时代</vt:lpstr>
      <vt:lpstr>五、礼乐文明与前诸子时代</vt:lpstr>
      <vt:lpstr>五、礼乐文明与前诸子时代</vt:lpstr>
      <vt:lpstr>五、礼乐文明与前诸子时代</vt:lpstr>
      <vt:lpstr>五、礼乐文明与前诸子时代</vt:lpstr>
      <vt:lpstr>五、礼乐文明与前诸子时代</vt:lpstr>
      <vt:lpstr>五、礼乐文明与前诸子时代</vt:lpstr>
    </vt:vector>
  </TitlesOfParts>
  <Company>iSlide</Company>
  <LinksUpToDate>false</LinksUpToDate>
  <SharedDoc>false</SharedDoc>
  <HyperlinksChanged>false</HyperlinksChanged>
  <AppVersion>14.0000</AppVersion>
  <Manager>iSlide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儒家仁爱观念在伦理结构中的展开</dc:title>
  <dc:creator>iSlide</dc:creator>
  <cp:lastModifiedBy>孟庆楠</cp:lastModifiedBy>
  <cp:revision>61</cp:revision>
  <cp:lastPrinted>2024-01-17T16:00:00Z</cp:lastPrinted>
  <dcterms:created xsi:type="dcterms:W3CDTF">2024-01-17T16:00:00Z</dcterms:created>
  <dcterms:modified xsi:type="dcterms:W3CDTF">2026-09-13T15:58:22Z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4a1fdab6-13b4-4b78-bf6e-8435c7fb9ed9</vt:lpwstr>
  </property>
  <property fmtid="{D5CDD505-2E9C-101B-9397-08002B2CF9AE}" pid="3" name="ICV">
    <vt:lpwstr>CDFA8BF229E34B2BBBEC3640D506D0A0_13</vt:lpwstr>
  </property>
  <property fmtid="{D5CDD505-2E9C-101B-9397-08002B2CF9AE}" pid="4" name="KSOProductBuildVer">
    <vt:lpwstr>2052-12.1.0.28505</vt:lpwstr>
  </property>
</Properties>
</file>