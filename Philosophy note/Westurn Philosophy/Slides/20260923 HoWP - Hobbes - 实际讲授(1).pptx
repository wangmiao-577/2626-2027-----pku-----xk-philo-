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911" r:id="rId2"/>
    <p:sldMasterId id="2147484149" r:id="rId3"/>
    <p:sldMasterId id="2147484407" r:id="rId4"/>
  </p:sldMasterIdLst>
  <p:notesMasterIdLst>
    <p:notesMasterId r:id="rId11"/>
  </p:notesMasterIdLst>
  <p:sldIdLst>
    <p:sldId id="256" r:id="rId5"/>
    <p:sldId id="277" r:id="rId6"/>
    <p:sldId id="291" r:id="rId7"/>
    <p:sldId id="292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87" autoAdjust="0"/>
    <p:restoredTop sz="94680" autoAdjust="0"/>
  </p:normalViewPr>
  <p:slideViewPr>
    <p:cSldViewPr snapToGrid="0">
      <p:cViewPr varScale="1">
        <p:scale>
          <a:sx n="110" d="100"/>
          <a:sy n="110" d="100"/>
        </p:scale>
        <p:origin x="258" y="102"/>
      </p:cViewPr>
      <p:guideLst/>
    </p:cSldViewPr>
  </p:slideViewPr>
  <p:outlineViewPr>
    <p:cViewPr>
      <p:scale>
        <a:sx n="33" d="100"/>
        <a:sy n="33" d="100"/>
      </p:scale>
      <p:origin x="0" y="-118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7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7AD9F-1B2E-459F-A9EE-D0E11AF0F343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62BBA-93C1-4451-BEF7-895AE6352E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39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72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79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09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4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8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83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28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21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17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78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310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68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009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8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070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73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137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554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4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798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238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1083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00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1794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065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449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61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196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378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6285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465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60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9982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5113" indent="-265113">
              <a:lnSpc>
                <a:spcPct val="100000"/>
              </a:lnSpc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824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35859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05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505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5335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78806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C2E1DD-2474-14C6-6F58-79DEA0708E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213" y="773113"/>
            <a:ext cx="9952037" cy="5399087"/>
          </a:xfrm>
          <a:custGeom>
            <a:avLst/>
            <a:gdLst>
              <a:gd name="connsiteX0" fmla="*/ 0 w 9952037"/>
              <a:gd name="connsiteY0" fmla="*/ 0 h 5399087"/>
              <a:gd name="connsiteX1" fmla="*/ 663469 w 9952037"/>
              <a:gd name="connsiteY1" fmla="*/ 0 h 5399087"/>
              <a:gd name="connsiteX2" fmla="*/ 1426459 w 9952037"/>
              <a:gd name="connsiteY2" fmla="*/ 0 h 5399087"/>
              <a:gd name="connsiteX3" fmla="*/ 2189448 w 9952037"/>
              <a:gd name="connsiteY3" fmla="*/ 0 h 5399087"/>
              <a:gd name="connsiteX4" fmla="*/ 3051958 w 9952037"/>
              <a:gd name="connsiteY4" fmla="*/ 0 h 5399087"/>
              <a:gd name="connsiteX5" fmla="*/ 3715427 w 9952037"/>
              <a:gd name="connsiteY5" fmla="*/ 0 h 5399087"/>
              <a:gd name="connsiteX6" fmla="*/ 4478417 w 9952037"/>
              <a:gd name="connsiteY6" fmla="*/ 0 h 5399087"/>
              <a:gd name="connsiteX7" fmla="*/ 5141886 w 9952037"/>
              <a:gd name="connsiteY7" fmla="*/ 0 h 5399087"/>
              <a:gd name="connsiteX8" fmla="*/ 5805355 w 9952037"/>
              <a:gd name="connsiteY8" fmla="*/ 0 h 5399087"/>
              <a:gd name="connsiteX9" fmla="*/ 6468824 w 9952037"/>
              <a:gd name="connsiteY9" fmla="*/ 0 h 5399087"/>
              <a:gd name="connsiteX10" fmla="*/ 6833732 w 9952037"/>
              <a:gd name="connsiteY10" fmla="*/ 0 h 5399087"/>
              <a:gd name="connsiteX11" fmla="*/ 7596722 w 9952037"/>
              <a:gd name="connsiteY11" fmla="*/ 0 h 5399087"/>
              <a:gd name="connsiteX12" fmla="*/ 7961630 w 9952037"/>
              <a:gd name="connsiteY12" fmla="*/ 0 h 5399087"/>
              <a:gd name="connsiteX13" fmla="*/ 8625099 w 9952037"/>
              <a:gd name="connsiteY13" fmla="*/ 0 h 5399087"/>
              <a:gd name="connsiteX14" fmla="*/ 9952037 w 9952037"/>
              <a:gd name="connsiteY14" fmla="*/ 0 h 5399087"/>
              <a:gd name="connsiteX15" fmla="*/ 9952037 w 9952037"/>
              <a:gd name="connsiteY15" fmla="*/ 782868 h 5399087"/>
              <a:gd name="connsiteX16" fmla="*/ 9952037 w 9952037"/>
              <a:gd name="connsiteY16" fmla="*/ 1295781 h 5399087"/>
              <a:gd name="connsiteX17" fmla="*/ 9952037 w 9952037"/>
              <a:gd name="connsiteY17" fmla="*/ 1862685 h 5399087"/>
              <a:gd name="connsiteX18" fmla="*/ 9952037 w 9952037"/>
              <a:gd name="connsiteY18" fmla="*/ 2429589 h 5399087"/>
              <a:gd name="connsiteX19" fmla="*/ 9952037 w 9952037"/>
              <a:gd name="connsiteY19" fmla="*/ 3104475 h 5399087"/>
              <a:gd name="connsiteX20" fmla="*/ 9952037 w 9952037"/>
              <a:gd name="connsiteY20" fmla="*/ 3779361 h 5399087"/>
              <a:gd name="connsiteX21" fmla="*/ 9952037 w 9952037"/>
              <a:gd name="connsiteY21" fmla="*/ 4400256 h 5399087"/>
              <a:gd name="connsiteX22" fmla="*/ 9952037 w 9952037"/>
              <a:gd name="connsiteY22" fmla="*/ 5399087 h 5399087"/>
              <a:gd name="connsiteX23" fmla="*/ 9487609 w 9952037"/>
              <a:gd name="connsiteY23" fmla="*/ 5399087 h 5399087"/>
              <a:gd name="connsiteX24" fmla="*/ 8824139 w 9952037"/>
              <a:gd name="connsiteY24" fmla="*/ 5399087 h 5399087"/>
              <a:gd name="connsiteX25" fmla="*/ 8061150 w 9952037"/>
              <a:gd name="connsiteY25" fmla="*/ 5399087 h 5399087"/>
              <a:gd name="connsiteX26" fmla="*/ 7696242 w 9952037"/>
              <a:gd name="connsiteY26" fmla="*/ 5399087 h 5399087"/>
              <a:gd name="connsiteX27" fmla="*/ 6833732 w 9952037"/>
              <a:gd name="connsiteY27" fmla="*/ 5399087 h 5399087"/>
              <a:gd name="connsiteX28" fmla="*/ 6269783 w 9952037"/>
              <a:gd name="connsiteY28" fmla="*/ 5399087 h 5399087"/>
              <a:gd name="connsiteX29" fmla="*/ 5506794 w 9952037"/>
              <a:gd name="connsiteY29" fmla="*/ 5399087 h 5399087"/>
              <a:gd name="connsiteX30" fmla="*/ 5141886 w 9952037"/>
              <a:gd name="connsiteY30" fmla="*/ 5399087 h 5399087"/>
              <a:gd name="connsiteX31" fmla="*/ 4279376 w 9952037"/>
              <a:gd name="connsiteY31" fmla="*/ 5399087 h 5399087"/>
              <a:gd name="connsiteX32" fmla="*/ 3715427 w 9952037"/>
              <a:gd name="connsiteY32" fmla="*/ 5399087 h 5399087"/>
              <a:gd name="connsiteX33" fmla="*/ 3051958 w 9952037"/>
              <a:gd name="connsiteY33" fmla="*/ 5399087 h 5399087"/>
              <a:gd name="connsiteX34" fmla="*/ 2587530 w 9952037"/>
              <a:gd name="connsiteY34" fmla="*/ 5399087 h 5399087"/>
              <a:gd name="connsiteX35" fmla="*/ 1824540 w 9952037"/>
              <a:gd name="connsiteY35" fmla="*/ 5399087 h 5399087"/>
              <a:gd name="connsiteX36" fmla="*/ 962030 w 9952037"/>
              <a:gd name="connsiteY36" fmla="*/ 5399087 h 5399087"/>
              <a:gd name="connsiteX37" fmla="*/ 0 w 9952037"/>
              <a:gd name="connsiteY37" fmla="*/ 5399087 h 5399087"/>
              <a:gd name="connsiteX38" fmla="*/ 0 w 9952037"/>
              <a:gd name="connsiteY38" fmla="*/ 4616219 h 5399087"/>
              <a:gd name="connsiteX39" fmla="*/ 0 w 9952037"/>
              <a:gd name="connsiteY39" fmla="*/ 3887343 h 5399087"/>
              <a:gd name="connsiteX40" fmla="*/ 0 w 9952037"/>
              <a:gd name="connsiteY40" fmla="*/ 3212457 h 5399087"/>
              <a:gd name="connsiteX41" fmla="*/ 0 w 9952037"/>
              <a:gd name="connsiteY41" fmla="*/ 2483580 h 5399087"/>
              <a:gd name="connsiteX42" fmla="*/ 0 w 9952037"/>
              <a:gd name="connsiteY42" fmla="*/ 1808694 h 5399087"/>
              <a:gd name="connsiteX43" fmla="*/ 0 w 9952037"/>
              <a:gd name="connsiteY43" fmla="*/ 1079817 h 5399087"/>
              <a:gd name="connsiteX44" fmla="*/ 0 w 9952037"/>
              <a:gd name="connsiteY44" fmla="*/ 0 h 5399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952037" h="5399087" fill="none" extrusionOk="0">
                <a:moveTo>
                  <a:pt x="0" y="0"/>
                </a:moveTo>
                <a:cubicBezTo>
                  <a:pt x="229118" y="33148"/>
                  <a:pt x="449915" y="-13208"/>
                  <a:pt x="663469" y="0"/>
                </a:cubicBezTo>
                <a:cubicBezTo>
                  <a:pt x="877023" y="13208"/>
                  <a:pt x="1244815" y="35228"/>
                  <a:pt x="1426459" y="0"/>
                </a:cubicBezTo>
                <a:cubicBezTo>
                  <a:pt x="1608103" y="-35228"/>
                  <a:pt x="2017252" y="36304"/>
                  <a:pt x="2189448" y="0"/>
                </a:cubicBezTo>
                <a:cubicBezTo>
                  <a:pt x="2361644" y="-36304"/>
                  <a:pt x="2859949" y="36404"/>
                  <a:pt x="3051958" y="0"/>
                </a:cubicBezTo>
                <a:cubicBezTo>
                  <a:pt x="3243967" y="-36404"/>
                  <a:pt x="3458777" y="8125"/>
                  <a:pt x="3715427" y="0"/>
                </a:cubicBezTo>
                <a:cubicBezTo>
                  <a:pt x="3972077" y="-8125"/>
                  <a:pt x="4189943" y="33110"/>
                  <a:pt x="4478417" y="0"/>
                </a:cubicBezTo>
                <a:cubicBezTo>
                  <a:pt x="4766891" y="-33110"/>
                  <a:pt x="4947178" y="-22230"/>
                  <a:pt x="5141886" y="0"/>
                </a:cubicBezTo>
                <a:cubicBezTo>
                  <a:pt x="5336594" y="22230"/>
                  <a:pt x="5540206" y="-26581"/>
                  <a:pt x="5805355" y="0"/>
                </a:cubicBezTo>
                <a:cubicBezTo>
                  <a:pt x="6070504" y="26581"/>
                  <a:pt x="6204504" y="13140"/>
                  <a:pt x="6468824" y="0"/>
                </a:cubicBezTo>
                <a:cubicBezTo>
                  <a:pt x="6733144" y="-13140"/>
                  <a:pt x="6734419" y="15602"/>
                  <a:pt x="6833732" y="0"/>
                </a:cubicBezTo>
                <a:cubicBezTo>
                  <a:pt x="6933045" y="-15602"/>
                  <a:pt x="7442955" y="-19408"/>
                  <a:pt x="7596722" y="0"/>
                </a:cubicBezTo>
                <a:cubicBezTo>
                  <a:pt x="7750489" y="19408"/>
                  <a:pt x="7846437" y="646"/>
                  <a:pt x="7961630" y="0"/>
                </a:cubicBezTo>
                <a:cubicBezTo>
                  <a:pt x="8076823" y="-646"/>
                  <a:pt x="8340754" y="14654"/>
                  <a:pt x="8625099" y="0"/>
                </a:cubicBezTo>
                <a:cubicBezTo>
                  <a:pt x="8909444" y="-14654"/>
                  <a:pt x="9589470" y="-20537"/>
                  <a:pt x="9952037" y="0"/>
                </a:cubicBezTo>
                <a:cubicBezTo>
                  <a:pt x="9956964" y="378475"/>
                  <a:pt x="9989061" y="440256"/>
                  <a:pt x="9952037" y="782868"/>
                </a:cubicBezTo>
                <a:cubicBezTo>
                  <a:pt x="9915013" y="1125480"/>
                  <a:pt x="9962341" y="1153169"/>
                  <a:pt x="9952037" y="1295781"/>
                </a:cubicBezTo>
                <a:cubicBezTo>
                  <a:pt x="9941733" y="1438393"/>
                  <a:pt x="9930971" y="1651981"/>
                  <a:pt x="9952037" y="1862685"/>
                </a:cubicBezTo>
                <a:cubicBezTo>
                  <a:pt x="9973103" y="2073389"/>
                  <a:pt x="9936549" y="2260706"/>
                  <a:pt x="9952037" y="2429589"/>
                </a:cubicBezTo>
                <a:cubicBezTo>
                  <a:pt x="9967525" y="2598472"/>
                  <a:pt x="9959981" y="2929286"/>
                  <a:pt x="9952037" y="3104475"/>
                </a:cubicBezTo>
                <a:cubicBezTo>
                  <a:pt x="9944093" y="3279664"/>
                  <a:pt x="9978179" y="3562993"/>
                  <a:pt x="9952037" y="3779361"/>
                </a:cubicBezTo>
                <a:cubicBezTo>
                  <a:pt x="9925895" y="3995729"/>
                  <a:pt x="9960758" y="4140150"/>
                  <a:pt x="9952037" y="4400256"/>
                </a:cubicBezTo>
                <a:cubicBezTo>
                  <a:pt x="9943316" y="4660363"/>
                  <a:pt x="9909915" y="5157490"/>
                  <a:pt x="9952037" y="5399087"/>
                </a:cubicBezTo>
                <a:cubicBezTo>
                  <a:pt x="9781334" y="5408651"/>
                  <a:pt x="9686787" y="5393288"/>
                  <a:pt x="9487609" y="5399087"/>
                </a:cubicBezTo>
                <a:cubicBezTo>
                  <a:pt x="9288431" y="5404886"/>
                  <a:pt x="9090951" y="5429869"/>
                  <a:pt x="8824139" y="5399087"/>
                </a:cubicBezTo>
                <a:cubicBezTo>
                  <a:pt x="8557327" y="5368306"/>
                  <a:pt x="8267787" y="5380000"/>
                  <a:pt x="8061150" y="5399087"/>
                </a:cubicBezTo>
                <a:cubicBezTo>
                  <a:pt x="7854513" y="5418174"/>
                  <a:pt x="7807731" y="5381057"/>
                  <a:pt x="7696242" y="5399087"/>
                </a:cubicBezTo>
                <a:cubicBezTo>
                  <a:pt x="7584753" y="5417117"/>
                  <a:pt x="7174027" y="5427353"/>
                  <a:pt x="6833732" y="5399087"/>
                </a:cubicBezTo>
                <a:cubicBezTo>
                  <a:pt x="6493437" y="5370822"/>
                  <a:pt x="6390858" y="5379564"/>
                  <a:pt x="6269783" y="5399087"/>
                </a:cubicBezTo>
                <a:cubicBezTo>
                  <a:pt x="6148708" y="5418610"/>
                  <a:pt x="5851075" y="5395442"/>
                  <a:pt x="5506794" y="5399087"/>
                </a:cubicBezTo>
                <a:cubicBezTo>
                  <a:pt x="5162513" y="5402732"/>
                  <a:pt x="5252257" y="5389989"/>
                  <a:pt x="5141886" y="5399087"/>
                </a:cubicBezTo>
                <a:cubicBezTo>
                  <a:pt x="5031515" y="5408185"/>
                  <a:pt x="4664852" y="5429114"/>
                  <a:pt x="4279376" y="5399087"/>
                </a:cubicBezTo>
                <a:cubicBezTo>
                  <a:pt x="3893900" y="5369061"/>
                  <a:pt x="3995346" y="5376621"/>
                  <a:pt x="3715427" y="5399087"/>
                </a:cubicBezTo>
                <a:cubicBezTo>
                  <a:pt x="3435508" y="5421553"/>
                  <a:pt x="3209015" y="5378058"/>
                  <a:pt x="3051958" y="5399087"/>
                </a:cubicBezTo>
                <a:cubicBezTo>
                  <a:pt x="2894901" y="5420116"/>
                  <a:pt x="2815249" y="5394473"/>
                  <a:pt x="2587530" y="5399087"/>
                </a:cubicBezTo>
                <a:cubicBezTo>
                  <a:pt x="2359811" y="5403701"/>
                  <a:pt x="2023183" y="5398028"/>
                  <a:pt x="1824540" y="5399087"/>
                </a:cubicBezTo>
                <a:cubicBezTo>
                  <a:pt x="1625897" y="5400147"/>
                  <a:pt x="1342760" y="5389646"/>
                  <a:pt x="962030" y="5399087"/>
                </a:cubicBezTo>
                <a:cubicBezTo>
                  <a:pt x="581300" y="5408529"/>
                  <a:pt x="213060" y="5401661"/>
                  <a:pt x="0" y="5399087"/>
                </a:cubicBezTo>
                <a:cubicBezTo>
                  <a:pt x="31882" y="5177454"/>
                  <a:pt x="30185" y="4893962"/>
                  <a:pt x="0" y="4616219"/>
                </a:cubicBezTo>
                <a:cubicBezTo>
                  <a:pt x="-30185" y="4338476"/>
                  <a:pt x="8239" y="4052788"/>
                  <a:pt x="0" y="3887343"/>
                </a:cubicBezTo>
                <a:cubicBezTo>
                  <a:pt x="-8239" y="3721898"/>
                  <a:pt x="-7684" y="3447494"/>
                  <a:pt x="0" y="3212457"/>
                </a:cubicBezTo>
                <a:cubicBezTo>
                  <a:pt x="7684" y="2977420"/>
                  <a:pt x="-20566" y="2740728"/>
                  <a:pt x="0" y="2483580"/>
                </a:cubicBezTo>
                <a:cubicBezTo>
                  <a:pt x="20566" y="2226432"/>
                  <a:pt x="-5731" y="2124083"/>
                  <a:pt x="0" y="1808694"/>
                </a:cubicBezTo>
                <a:cubicBezTo>
                  <a:pt x="5731" y="1493305"/>
                  <a:pt x="-7710" y="1242947"/>
                  <a:pt x="0" y="1079817"/>
                </a:cubicBezTo>
                <a:cubicBezTo>
                  <a:pt x="7710" y="916687"/>
                  <a:pt x="-32675" y="249167"/>
                  <a:pt x="0" y="0"/>
                </a:cubicBezTo>
                <a:close/>
              </a:path>
              <a:path w="9952037" h="5399087" stroke="0" extrusionOk="0">
                <a:moveTo>
                  <a:pt x="0" y="0"/>
                </a:moveTo>
                <a:cubicBezTo>
                  <a:pt x="116897" y="-2473"/>
                  <a:pt x="366766" y="-13117"/>
                  <a:pt x="563949" y="0"/>
                </a:cubicBezTo>
                <a:cubicBezTo>
                  <a:pt x="761132" y="13117"/>
                  <a:pt x="826677" y="-7527"/>
                  <a:pt x="928857" y="0"/>
                </a:cubicBezTo>
                <a:cubicBezTo>
                  <a:pt x="1031037" y="7527"/>
                  <a:pt x="1545602" y="-8316"/>
                  <a:pt x="1791367" y="0"/>
                </a:cubicBezTo>
                <a:cubicBezTo>
                  <a:pt x="2037132" y="8316"/>
                  <a:pt x="2218223" y="2998"/>
                  <a:pt x="2355315" y="0"/>
                </a:cubicBezTo>
                <a:cubicBezTo>
                  <a:pt x="2492407" y="-2998"/>
                  <a:pt x="2640739" y="23260"/>
                  <a:pt x="2919264" y="0"/>
                </a:cubicBezTo>
                <a:cubicBezTo>
                  <a:pt x="3197789" y="-23260"/>
                  <a:pt x="3433177" y="-19377"/>
                  <a:pt x="3781774" y="0"/>
                </a:cubicBezTo>
                <a:cubicBezTo>
                  <a:pt x="4130371" y="19377"/>
                  <a:pt x="4065213" y="6612"/>
                  <a:pt x="4246202" y="0"/>
                </a:cubicBezTo>
                <a:cubicBezTo>
                  <a:pt x="4427191" y="-6612"/>
                  <a:pt x="4920464" y="-25327"/>
                  <a:pt x="5108712" y="0"/>
                </a:cubicBezTo>
                <a:cubicBezTo>
                  <a:pt x="5296960" y="25327"/>
                  <a:pt x="5580176" y="9293"/>
                  <a:pt x="5971222" y="0"/>
                </a:cubicBezTo>
                <a:cubicBezTo>
                  <a:pt x="6362268" y="-9293"/>
                  <a:pt x="6439128" y="13132"/>
                  <a:pt x="6634691" y="0"/>
                </a:cubicBezTo>
                <a:cubicBezTo>
                  <a:pt x="6830254" y="-13132"/>
                  <a:pt x="7300299" y="-16894"/>
                  <a:pt x="7497201" y="0"/>
                </a:cubicBezTo>
                <a:cubicBezTo>
                  <a:pt x="7694103" y="16894"/>
                  <a:pt x="7817116" y="-14269"/>
                  <a:pt x="8061150" y="0"/>
                </a:cubicBezTo>
                <a:cubicBezTo>
                  <a:pt x="8305184" y="14269"/>
                  <a:pt x="8388398" y="13797"/>
                  <a:pt x="8625099" y="0"/>
                </a:cubicBezTo>
                <a:cubicBezTo>
                  <a:pt x="8861800" y="-13797"/>
                  <a:pt x="9123926" y="-7564"/>
                  <a:pt x="9388088" y="0"/>
                </a:cubicBezTo>
                <a:cubicBezTo>
                  <a:pt x="9652250" y="7564"/>
                  <a:pt x="9699540" y="-23767"/>
                  <a:pt x="9952037" y="0"/>
                </a:cubicBezTo>
                <a:cubicBezTo>
                  <a:pt x="9968938" y="306743"/>
                  <a:pt x="9939575" y="480902"/>
                  <a:pt x="9952037" y="782868"/>
                </a:cubicBezTo>
                <a:cubicBezTo>
                  <a:pt x="9964499" y="1084834"/>
                  <a:pt x="9962557" y="1362503"/>
                  <a:pt x="9952037" y="1511744"/>
                </a:cubicBezTo>
                <a:cubicBezTo>
                  <a:pt x="9941517" y="1660985"/>
                  <a:pt x="9985526" y="1956111"/>
                  <a:pt x="9952037" y="2240621"/>
                </a:cubicBezTo>
                <a:cubicBezTo>
                  <a:pt x="9918548" y="2525131"/>
                  <a:pt x="9988052" y="2749442"/>
                  <a:pt x="9952037" y="2969498"/>
                </a:cubicBezTo>
                <a:cubicBezTo>
                  <a:pt x="9916022" y="3189554"/>
                  <a:pt x="9972138" y="3332267"/>
                  <a:pt x="9952037" y="3482411"/>
                </a:cubicBezTo>
                <a:cubicBezTo>
                  <a:pt x="9931936" y="3632555"/>
                  <a:pt x="9937691" y="3766884"/>
                  <a:pt x="9952037" y="4049315"/>
                </a:cubicBezTo>
                <a:cubicBezTo>
                  <a:pt x="9966383" y="4331746"/>
                  <a:pt x="9976590" y="4488354"/>
                  <a:pt x="9952037" y="4778192"/>
                </a:cubicBezTo>
                <a:cubicBezTo>
                  <a:pt x="9927484" y="5068030"/>
                  <a:pt x="9933060" y="5217269"/>
                  <a:pt x="9952037" y="5399087"/>
                </a:cubicBezTo>
                <a:cubicBezTo>
                  <a:pt x="9846244" y="5382987"/>
                  <a:pt x="9620191" y="5403711"/>
                  <a:pt x="9487609" y="5399087"/>
                </a:cubicBezTo>
                <a:cubicBezTo>
                  <a:pt x="9355027" y="5394463"/>
                  <a:pt x="9287813" y="5404336"/>
                  <a:pt x="9122701" y="5399087"/>
                </a:cubicBezTo>
                <a:cubicBezTo>
                  <a:pt x="8957589" y="5393838"/>
                  <a:pt x="8840464" y="5404927"/>
                  <a:pt x="8757793" y="5399087"/>
                </a:cubicBezTo>
                <a:cubicBezTo>
                  <a:pt x="8675122" y="5393247"/>
                  <a:pt x="8278343" y="5417700"/>
                  <a:pt x="8094323" y="5399087"/>
                </a:cubicBezTo>
                <a:cubicBezTo>
                  <a:pt x="7910303" y="5380475"/>
                  <a:pt x="7842149" y="5404588"/>
                  <a:pt x="7629895" y="5399087"/>
                </a:cubicBezTo>
                <a:cubicBezTo>
                  <a:pt x="7417641" y="5393586"/>
                  <a:pt x="7169869" y="5433996"/>
                  <a:pt x="6866906" y="5399087"/>
                </a:cubicBezTo>
                <a:cubicBezTo>
                  <a:pt x="6563943" y="5364178"/>
                  <a:pt x="6501698" y="5405349"/>
                  <a:pt x="6402477" y="5399087"/>
                </a:cubicBezTo>
                <a:cubicBezTo>
                  <a:pt x="6303256" y="5392825"/>
                  <a:pt x="5882846" y="5383231"/>
                  <a:pt x="5639488" y="5399087"/>
                </a:cubicBezTo>
                <a:cubicBezTo>
                  <a:pt x="5396130" y="5414943"/>
                  <a:pt x="5444467" y="5409892"/>
                  <a:pt x="5274580" y="5399087"/>
                </a:cubicBezTo>
                <a:cubicBezTo>
                  <a:pt x="5104693" y="5388282"/>
                  <a:pt x="4721933" y="5393484"/>
                  <a:pt x="4511590" y="5399087"/>
                </a:cubicBezTo>
                <a:cubicBezTo>
                  <a:pt x="4301247" y="5404691"/>
                  <a:pt x="4207561" y="5400279"/>
                  <a:pt x="4047162" y="5399087"/>
                </a:cubicBezTo>
                <a:cubicBezTo>
                  <a:pt x="3886763" y="5397895"/>
                  <a:pt x="3772727" y="5392187"/>
                  <a:pt x="3682254" y="5399087"/>
                </a:cubicBezTo>
                <a:cubicBezTo>
                  <a:pt x="3591781" y="5405987"/>
                  <a:pt x="3441740" y="5385164"/>
                  <a:pt x="3217825" y="5399087"/>
                </a:cubicBezTo>
                <a:cubicBezTo>
                  <a:pt x="2993910" y="5413010"/>
                  <a:pt x="2708863" y="5371882"/>
                  <a:pt x="2454836" y="5399087"/>
                </a:cubicBezTo>
                <a:cubicBezTo>
                  <a:pt x="2200809" y="5426292"/>
                  <a:pt x="2103243" y="5378178"/>
                  <a:pt x="1990407" y="5399087"/>
                </a:cubicBezTo>
                <a:cubicBezTo>
                  <a:pt x="1877571" y="5419996"/>
                  <a:pt x="1757368" y="5383220"/>
                  <a:pt x="1625499" y="5399087"/>
                </a:cubicBezTo>
                <a:cubicBezTo>
                  <a:pt x="1493630" y="5414954"/>
                  <a:pt x="1318575" y="5421455"/>
                  <a:pt x="1161071" y="5399087"/>
                </a:cubicBezTo>
                <a:cubicBezTo>
                  <a:pt x="1003567" y="5376719"/>
                  <a:pt x="810535" y="5413338"/>
                  <a:pt x="597122" y="5399087"/>
                </a:cubicBezTo>
                <a:cubicBezTo>
                  <a:pt x="383709" y="5384836"/>
                  <a:pt x="200226" y="5379817"/>
                  <a:pt x="0" y="5399087"/>
                </a:cubicBezTo>
                <a:cubicBezTo>
                  <a:pt x="17779" y="5121993"/>
                  <a:pt x="2412" y="5038057"/>
                  <a:pt x="0" y="4832183"/>
                </a:cubicBezTo>
                <a:cubicBezTo>
                  <a:pt x="-2412" y="4626309"/>
                  <a:pt x="7870" y="4432948"/>
                  <a:pt x="0" y="4265279"/>
                </a:cubicBezTo>
                <a:cubicBezTo>
                  <a:pt x="-7870" y="4097610"/>
                  <a:pt x="11905" y="3809369"/>
                  <a:pt x="0" y="3590393"/>
                </a:cubicBezTo>
                <a:cubicBezTo>
                  <a:pt x="-11905" y="3371417"/>
                  <a:pt x="20161" y="3120209"/>
                  <a:pt x="0" y="2915507"/>
                </a:cubicBezTo>
                <a:cubicBezTo>
                  <a:pt x="-20161" y="2710805"/>
                  <a:pt x="7943" y="2400823"/>
                  <a:pt x="0" y="2240621"/>
                </a:cubicBezTo>
                <a:cubicBezTo>
                  <a:pt x="-7943" y="2080419"/>
                  <a:pt x="15671" y="1722819"/>
                  <a:pt x="0" y="1565735"/>
                </a:cubicBezTo>
                <a:cubicBezTo>
                  <a:pt x="-15671" y="1408651"/>
                  <a:pt x="14827" y="1155035"/>
                  <a:pt x="0" y="944840"/>
                </a:cubicBezTo>
                <a:cubicBezTo>
                  <a:pt x="-14827" y="734646"/>
                  <a:pt x="829" y="373845"/>
                  <a:pt x="0" y="0"/>
                </a:cubicBezTo>
                <a:close/>
              </a:path>
            </a:pathLst>
          </a:custGeom>
          <a:solidFill>
            <a:schemeClr val="bg2"/>
          </a:solidFill>
          <a:ln w="3492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lIns="252000" tIns="144000" rIns="252000" bIns="144000"/>
          <a:lstStyle>
            <a:lvl1pPr algn="l">
              <a:lnSpc>
                <a:spcPct val="110000"/>
              </a:lnSpc>
              <a:spcBef>
                <a:spcPts val="600"/>
              </a:spcBef>
              <a:defRPr sz="2400">
                <a:solidFill>
                  <a:schemeClr val="tx1"/>
                </a:solidFill>
                <a:latin typeface="Garamond" panose="02020404030301010803" pitchFamily="18" charset="0"/>
                <a:ea typeface="仿宋" panose="02010609060101010101" pitchFamily="49" charset="-122"/>
              </a:defRPr>
            </a:lvl1pPr>
            <a:lvl2pPr algn="l">
              <a:lnSpc>
                <a:spcPct val="110000"/>
              </a:lnSpc>
              <a:defRPr sz="2200">
                <a:solidFill>
                  <a:schemeClr val="tx1"/>
                </a:solidFill>
                <a:latin typeface="Garamond" panose="02020404030301010803" pitchFamily="18" charset="0"/>
                <a:ea typeface="仿宋" panose="02010609060101010101" pitchFamily="49" charset="-122"/>
              </a:defRPr>
            </a:lvl2pPr>
            <a:lvl3pPr>
              <a:lnSpc>
                <a:spcPct val="12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323893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86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1198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398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20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2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80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18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0" r:id="rId1"/>
    <p:sldLayoutId id="2147484151" r:id="rId2"/>
    <p:sldLayoutId id="2147484152" r:id="rId3"/>
    <p:sldLayoutId id="2147484153" r:id="rId4"/>
    <p:sldLayoutId id="2147484154" r:id="rId5"/>
    <p:sldLayoutId id="2147484155" r:id="rId6"/>
    <p:sldLayoutId id="2147484156" r:id="rId7"/>
    <p:sldLayoutId id="2147484157" r:id="rId8"/>
    <p:sldLayoutId id="2147484158" r:id="rId9"/>
    <p:sldLayoutId id="2147484159" r:id="rId10"/>
    <p:sldLayoutId id="21474841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B69A93D6-D98D-4ACC-A079-A900BE36D3DE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60507218-11A0-43DF-85A9-A085921A4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4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8" r:id="rId1"/>
    <p:sldLayoutId id="2147484409" r:id="rId2"/>
    <p:sldLayoutId id="2147484410" r:id="rId3"/>
    <p:sldLayoutId id="2147484411" r:id="rId4"/>
    <p:sldLayoutId id="2147484412" r:id="rId5"/>
    <p:sldLayoutId id="2147484413" r:id="rId6"/>
    <p:sldLayoutId id="2147484414" r:id="rId7"/>
    <p:sldLayoutId id="2147484419" r:id="rId8"/>
    <p:sldLayoutId id="2147484415" r:id="rId9"/>
    <p:sldLayoutId id="2147484416" r:id="rId10"/>
    <p:sldLayoutId id="2147484417" r:id="rId11"/>
    <p:sldLayoutId id="214748441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8CE35-67F3-5534-7925-D9D18177B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dirty="0"/>
              <a:t>2026</a:t>
            </a:r>
            <a:r>
              <a:rPr lang="zh-CN" altLang="en-US" sz="2800" dirty="0"/>
              <a:t>秋季学期</a:t>
            </a:r>
            <a:r>
              <a:rPr lang="en-US" altLang="zh-CN" sz="2800" dirty="0"/>
              <a:t>·</a:t>
            </a:r>
            <a:r>
              <a:rPr lang="zh-CN" altLang="en-US" sz="2800" dirty="0"/>
              <a:t>西方哲学史（下）</a:t>
            </a:r>
            <a:br>
              <a:rPr lang="en-US" altLang="zh-CN" sz="4400" dirty="0"/>
            </a:br>
            <a:r>
              <a:rPr lang="en-US" altLang="zh-CN" sz="4400" dirty="0"/>
              <a:t>	</a:t>
            </a:r>
            <a:r>
              <a:rPr lang="zh-CN" altLang="en-US" b="1" dirty="0"/>
              <a:t>霍布斯</a:t>
            </a:r>
            <a:endParaRPr lang="zh-CN" altLang="en-US" sz="66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7416BA-24AB-89CC-EFE4-15C762BAD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972756"/>
            <a:ext cx="9418320" cy="151948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</a:schemeClr>
                </a:solidFill>
              </a:rPr>
              <a:t>主讲人：赵新侃</a:t>
            </a:r>
            <a:endParaRPr lang="en-US" altLang="zh-CN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95000"/>
                  </a:schemeClr>
                </a:solidFill>
              </a:rPr>
              <a:t>zhaoxinkan@pku.edu.cn</a:t>
            </a:r>
            <a:endParaRPr lang="zh-CN" altLang="en-US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255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5B56-3624-2B13-34DF-BC71F48C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BA3EC-7394-32C3-7CAD-EAF0CE1B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4D4707-6DAA-4B09-B64C-21FF8A21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1588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法的要素</a:t>
            </a:r>
            <a:r>
              <a:rPr lang="en-US" altLang="zh-CN" dirty="0"/>
              <a:t>》1640</a:t>
            </a:r>
          </a:p>
          <a:p>
            <a:r>
              <a:rPr lang="zh-CN" altLang="en-US" dirty="0"/>
              <a:t>批评笛卡尔</a:t>
            </a:r>
            <a:endParaRPr lang="en-US" altLang="zh-CN" dirty="0"/>
          </a:p>
          <a:p>
            <a:r>
              <a:rPr lang="en-US" altLang="zh-CN" dirty="0"/>
              <a:t>《</a:t>
            </a:r>
            <a:r>
              <a:rPr lang="zh-CN" altLang="en-US" dirty="0"/>
              <a:t>利维坦</a:t>
            </a:r>
            <a:r>
              <a:rPr lang="en-US" altLang="zh-CN" dirty="0"/>
              <a:t>》1651</a:t>
            </a:r>
          </a:p>
          <a:p>
            <a:r>
              <a:rPr lang="en-US" altLang="zh-CN" dirty="0"/>
              <a:t>1679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223BCB2-6272-11D8-CDB0-0CF911885B90}"/>
              </a:ext>
            </a:extLst>
          </p:cNvPr>
          <p:cNvGrpSpPr/>
          <p:nvPr/>
        </p:nvGrpSpPr>
        <p:grpSpPr>
          <a:xfrm>
            <a:off x="5777131" y="448350"/>
            <a:ext cx="4694781" cy="6075327"/>
            <a:chOff x="5960009" y="448350"/>
            <a:chExt cx="4694781" cy="6075327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0B1F77E-B301-F2B8-B9D4-E928A2A23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4635" y="704775"/>
              <a:ext cx="2280155" cy="30694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CAF5E9D-814A-053E-6107-CB1892EE5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8844" y="3768317"/>
              <a:ext cx="2142655" cy="27553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92CBF85-A4E0-5635-E84A-592ED4A91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2596" y="3748805"/>
              <a:ext cx="2076248" cy="26253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13CBF5C-EA12-9CEE-5FA3-C92684E0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0009" y="448350"/>
              <a:ext cx="2541423" cy="33980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0820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5B56-3624-2B13-34DF-BC71F48C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BA3EC-7394-32C3-7CAD-EAF0CE1B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唯物的经验论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4D4707-6DAA-4B09-B64C-21FF8A21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感觉的基础地位</a:t>
            </a:r>
            <a:endParaRPr lang="en-US" altLang="zh-CN" dirty="0"/>
          </a:p>
          <a:p>
            <a:pPr lvl="1"/>
            <a:r>
              <a:rPr lang="zh-CN" altLang="en-US" dirty="0"/>
              <a:t>感觉是被动接受的过程</a:t>
            </a:r>
            <a:endParaRPr lang="en-US" altLang="zh-CN" dirty="0"/>
          </a:p>
          <a:p>
            <a:pPr lvl="1"/>
            <a:r>
              <a:rPr lang="zh-CN" altLang="en-US" dirty="0"/>
              <a:t>感觉是一切观念的基础；记忆、想象、推理等都基于感觉</a:t>
            </a:r>
            <a:endParaRPr lang="en-US" altLang="zh-CN" dirty="0"/>
          </a:p>
          <a:p>
            <a:pPr lvl="1"/>
            <a:r>
              <a:rPr lang="zh-CN" altLang="en-US" dirty="0"/>
              <a:t>两种知识：事实知识、后果知识</a:t>
            </a:r>
            <a:endParaRPr lang="en-US" altLang="zh-CN" dirty="0"/>
          </a:p>
          <a:p>
            <a:r>
              <a:rPr lang="zh-CN" altLang="en-US" dirty="0"/>
              <a:t>唯物论图景下的感觉</a:t>
            </a:r>
            <a:endParaRPr lang="en-US" altLang="zh-CN" dirty="0"/>
          </a:p>
          <a:p>
            <a:pPr lvl="1"/>
            <a:r>
              <a:rPr lang="zh-CN" altLang="en-US" dirty="0"/>
              <a:t>感觉器官投射幻象：声色味等是心脑的向外抵制</a:t>
            </a:r>
            <a:endParaRPr lang="en-US" altLang="zh-CN" dirty="0"/>
          </a:p>
          <a:p>
            <a:pPr lvl="1"/>
            <a:r>
              <a:rPr lang="zh-CN" altLang="en-US" dirty="0"/>
              <a:t>（注意与笛卡尔的相似）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205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E8A2D4-2C08-0E8F-8AF1-0B194BE8C1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The cause of sense is the external body, or object, which presses the organ proper to each sense, either immediately, as in taste and touch; or mediately, as in seeing, hearing, and smelling. This pressure, by the mediation of the nerves, and other strings, and membranes of the body, continued inwards to the brain and heart, causes there a resistance, or counter-pressure, or </a:t>
            </a:r>
            <a:r>
              <a:rPr lang="en-US" altLang="zh-CN" dirty="0" err="1"/>
              <a:t>endeavour</a:t>
            </a:r>
            <a:r>
              <a:rPr lang="en-US" altLang="zh-CN" dirty="0"/>
              <a:t> of the heart to deliver itself. This </a:t>
            </a:r>
            <a:r>
              <a:rPr lang="en-US" altLang="zh-CN" dirty="0" err="1"/>
              <a:t>endeavour</a:t>
            </a:r>
            <a:r>
              <a:rPr lang="en-US" altLang="zh-CN" dirty="0"/>
              <a:t>, because </a:t>
            </a:r>
            <a:r>
              <a:rPr lang="en-US" altLang="zh-CN" i="1" dirty="0"/>
              <a:t>outward</a:t>
            </a:r>
            <a:r>
              <a:rPr lang="en-US" altLang="zh-CN" dirty="0"/>
              <a:t>, seems to be some matter without. And this </a:t>
            </a:r>
            <a:r>
              <a:rPr lang="en-US" altLang="zh-CN" i="1" dirty="0"/>
              <a:t>seeming</a:t>
            </a:r>
            <a:r>
              <a:rPr lang="en-US" altLang="zh-CN" dirty="0"/>
              <a:t>, or </a:t>
            </a:r>
            <a:r>
              <a:rPr lang="en-US" altLang="zh-CN" i="1" dirty="0"/>
              <a:t>fancy</a:t>
            </a:r>
            <a:r>
              <a:rPr lang="en-US" altLang="zh-CN" dirty="0"/>
              <a:t>, is that which men call </a:t>
            </a:r>
            <a:r>
              <a:rPr lang="en-US" altLang="zh-CN" i="1" dirty="0"/>
              <a:t>sense</a:t>
            </a:r>
            <a:r>
              <a:rPr lang="en-US" altLang="zh-CN" dirty="0"/>
              <a:t>; and it consists, as to the eye, in a light or </a:t>
            </a:r>
            <a:r>
              <a:rPr lang="en-US" altLang="zh-CN" dirty="0" err="1"/>
              <a:t>colour</a:t>
            </a:r>
            <a:r>
              <a:rPr lang="en-US" altLang="zh-CN" dirty="0"/>
              <a:t> figured; to the ear, in a </a:t>
            </a:r>
            <a:r>
              <a:rPr lang="en-US" altLang="zh-CN" i="1" dirty="0"/>
              <a:t>sound</a:t>
            </a:r>
            <a:r>
              <a:rPr lang="en-US" altLang="zh-CN" dirty="0"/>
              <a:t>; to the nostril, in an </a:t>
            </a:r>
            <a:r>
              <a:rPr lang="en-US" altLang="zh-CN" i="1" dirty="0" err="1"/>
              <a:t>odour</a:t>
            </a:r>
            <a:r>
              <a:rPr lang="en-US" altLang="zh-CN" dirty="0"/>
              <a:t>; to the tongue and palate, in a </a:t>
            </a:r>
            <a:r>
              <a:rPr lang="en-US" altLang="zh-CN" i="1" dirty="0" err="1"/>
              <a:t>savour</a:t>
            </a:r>
            <a:r>
              <a:rPr lang="en-US" altLang="zh-CN" dirty="0"/>
              <a:t>; and to the rest of the body in </a:t>
            </a:r>
            <a:r>
              <a:rPr lang="en-US" altLang="zh-CN" i="1" dirty="0"/>
              <a:t>heat</a:t>
            </a:r>
            <a:r>
              <a:rPr lang="en-US" altLang="zh-CN" dirty="0"/>
              <a:t>, </a:t>
            </a:r>
            <a:r>
              <a:rPr lang="en-US" altLang="zh-CN" i="1" dirty="0"/>
              <a:t>cold</a:t>
            </a:r>
            <a:r>
              <a:rPr lang="en-US" altLang="zh-CN" dirty="0"/>
              <a:t>, </a:t>
            </a:r>
            <a:r>
              <a:rPr lang="en-US" altLang="zh-CN" i="1" dirty="0"/>
              <a:t>hardness</a:t>
            </a:r>
            <a:r>
              <a:rPr lang="en-US" altLang="zh-CN" dirty="0"/>
              <a:t>, </a:t>
            </a:r>
            <a:r>
              <a:rPr lang="en-US" altLang="zh-CN" i="1" dirty="0"/>
              <a:t>softness</a:t>
            </a:r>
            <a:r>
              <a:rPr lang="en-US" altLang="zh-CN" dirty="0"/>
              <a:t>, and such other qualities as we discern by </a:t>
            </a:r>
            <a:r>
              <a:rPr lang="en-US" altLang="zh-CN" i="1" dirty="0"/>
              <a:t>feeling</a:t>
            </a:r>
            <a:r>
              <a:rPr lang="en-US" altLang="zh-CN" dirty="0"/>
              <a:t>. All which qualities called </a:t>
            </a:r>
            <a:r>
              <a:rPr lang="en-US" altLang="zh-CN" i="1" dirty="0"/>
              <a:t>sensible</a:t>
            </a:r>
            <a:r>
              <a:rPr lang="en-US" altLang="zh-CN" dirty="0"/>
              <a:t> are in the object that causes them but so many several motions of the matter, by which it presses our organs diversely.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8381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2EDC-14F5-2CB3-9BBC-383A22E0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38146-E253-EC43-0C6C-91C1ACF9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唯名论与语言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81578-93FD-F180-CDE7-6F5EE948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对共相问题的处理</a:t>
            </a:r>
            <a:endParaRPr lang="en-US" altLang="zh-CN" dirty="0"/>
          </a:p>
          <a:p>
            <a:pPr lvl="1"/>
            <a:r>
              <a:rPr lang="zh-CN" altLang="en-US" dirty="0"/>
              <a:t>不存在共相</a:t>
            </a:r>
            <a:endParaRPr lang="en-US" altLang="zh-CN" dirty="0"/>
          </a:p>
          <a:p>
            <a:pPr lvl="1"/>
            <a:r>
              <a:rPr lang="zh-CN" altLang="en-US" dirty="0"/>
              <a:t>所有词都是名字，命名一个或多个个体</a:t>
            </a:r>
            <a:endParaRPr lang="en-US" altLang="zh-CN" dirty="0"/>
          </a:p>
          <a:p>
            <a:pPr lvl="1"/>
            <a:r>
              <a:rPr lang="zh-CN" altLang="en-US" dirty="0"/>
              <a:t>句子的真值在于名字命名关系的恰当重叠</a:t>
            </a:r>
            <a:br>
              <a:rPr lang="en-US" altLang="zh-CN" dirty="0"/>
            </a:br>
            <a:r>
              <a:rPr lang="zh-CN" altLang="en-US" dirty="0"/>
              <a:t>例：“人是生物”，“所有人都是正义的”</a:t>
            </a:r>
            <a:endParaRPr lang="en-US" altLang="zh-CN" dirty="0"/>
          </a:p>
          <a:p>
            <a:r>
              <a:rPr lang="zh-CN" altLang="en-US" dirty="0"/>
              <a:t>对语言的一般论述</a:t>
            </a:r>
            <a:endParaRPr lang="en-US" altLang="zh-CN" dirty="0"/>
          </a:p>
          <a:p>
            <a:pPr lvl="1"/>
            <a:r>
              <a:rPr lang="zh-CN" altLang="en-US" dirty="0"/>
              <a:t>人类和动物的最大区别</a:t>
            </a:r>
            <a:endParaRPr lang="en-US" altLang="zh-CN" dirty="0"/>
          </a:p>
          <a:p>
            <a:pPr lvl="1"/>
            <a:r>
              <a:rPr lang="zh-CN" altLang="en-US" dirty="0"/>
              <a:t>语言的功能：记录知识、咨询与讲授、声明意愿、娱乐</a:t>
            </a:r>
            <a:endParaRPr lang="en-US" altLang="zh-CN" dirty="0"/>
          </a:p>
          <a:p>
            <a:pPr lvl="1"/>
            <a:r>
              <a:rPr lang="zh-CN" altLang="en-US" dirty="0"/>
              <a:t>语言是筹码而非实值：</a:t>
            </a:r>
            <a:r>
              <a:rPr lang="en-US" altLang="zh-CN" dirty="0"/>
              <a:t>Words are wise men’s counters, they do but reckon by them; but they are the money of fools.</a:t>
            </a:r>
          </a:p>
        </p:txBody>
      </p:sp>
    </p:spTree>
    <p:extLst>
      <p:ext uri="{BB962C8B-B14F-4D97-AF65-F5344CB8AC3E}">
        <p14:creationId xmlns:p14="http://schemas.microsoft.com/office/powerpoint/2010/main" val="351416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2EDC-14F5-2CB3-9BBC-383A22E0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38146-E253-EC43-0C6C-91C1ACF9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心灵与意志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81578-93FD-F180-CDE7-6F5EE948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批评笛卡尔：无身体的实体如同圆的方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498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风景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风景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2687</TotalTime>
  <Words>434</Words>
  <Application>Microsoft Office PowerPoint</Application>
  <PresentationFormat>宽屏</PresentationFormat>
  <Paragraphs>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等线</vt:lpstr>
      <vt:lpstr>Arial</vt:lpstr>
      <vt:lpstr>Calibri</vt:lpstr>
      <vt:lpstr>Calibri Light</vt:lpstr>
      <vt:lpstr>Garamond</vt:lpstr>
      <vt:lpstr>Times New Roman</vt:lpstr>
      <vt:lpstr>Wingdings</vt:lpstr>
      <vt:lpstr>Wingdings 2</vt:lpstr>
      <vt:lpstr>HDOfficeLightV0</vt:lpstr>
      <vt:lpstr>1_HDOfficeLightV0</vt:lpstr>
      <vt:lpstr>2_HDOfficeLightV0</vt:lpstr>
      <vt:lpstr>风景</vt:lpstr>
      <vt:lpstr>2026秋季学期·西方哲学史（下）  霍布斯</vt:lpstr>
      <vt:lpstr>生平</vt:lpstr>
      <vt:lpstr>唯物的经验论</vt:lpstr>
      <vt:lpstr>PowerPoint 演示文稿</vt:lpstr>
      <vt:lpstr>唯名论与语言</vt:lpstr>
      <vt:lpstr>心灵与意志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Reasons with  Multiple Exemplars</dc:title>
  <dc:creator>Xinkan</dc:creator>
  <cp:lastModifiedBy>Xinkan Zhao</cp:lastModifiedBy>
  <cp:revision>231</cp:revision>
  <dcterms:created xsi:type="dcterms:W3CDTF">2025-03-19T02:10:05Z</dcterms:created>
  <dcterms:modified xsi:type="dcterms:W3CDTF">2026-09-23T06:44:22Z</dcterms:modified>
</cp:coreProperties>
</file>